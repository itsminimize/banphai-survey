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669280" cy="5669280"/>
          </a:xfrm>
          <a:prstGeom prst="ellipse">
            <a:avLst/>
          </a:prstGeom>
          <a:solidFill>
            <a:srgbClr val="16414D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108960"/>
            <a:ext cx="3108960" cy="3108960"/>
          </a:xfrm>
          <a:prstGeom prst="ellipse">
            <a:avLst/>
          </a:prstGeom>
          <a:solidFill>
            <a:srgbClr val="0B4F5B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29844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FB6B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รายงานสรุปเชิงเปรียบเทียบ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79552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ประโยชน์เชิงประจักษ์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ของระบบเก็บข้อมูลดิจิทัล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34564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BD3D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เทียบกับการเก็บแบบสอบถามด้วยกระดาษ  —  วิเคราะห์ 9 มิติ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43159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C9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4,200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4809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EB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คัน/วัน  (Roadside)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01568" y="43159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C9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~2,000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01568" y="4809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EB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ครัวเรือน  (2 วัน)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44768" y="43159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C9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135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44768" y="4809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EB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โซนวิเคราะห์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55321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C9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11 สิงหาคม 2569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9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การสำรวจการเดินทาง อำเภอบ้านไผ่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9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ขนาดของงานที่ระบบต้องรองรับ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ตัวเลขนี้คือเหตุผลที่วิธีกระดาษกับวิธีดิจิทัลให้ผลต่างกันมาก — ไม่ใช่เรื่องความสะดวก แต่เป็นเรื่องปริมาณ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4718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700784"/>
            <a:ext cx="19963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4,200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2359152"/>
            <a:ext cx="1996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คัน / วัน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670048"/>
            <a:ext cx="1996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แบบสอบถามริมทาง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59404" y="1481328"/>
            <a:ext cx="24718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97148" y="1700784"/>
            <a:ext cx="19963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~2,000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97148" y="2359152"/>
            <a:ext cx="1996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ครัวเรือน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97148" y="2670048"/>
            <a:ext cx="1996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เก็บภายใน 2 วัน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0440" y="1481328"/>
            <a:ext cx="24718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8184" y="1700784"/>
            <a:ext cx="19963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4711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หลักหมื่น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98184" y="2359152"/>
            <a:ext cx="1996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ระเบียนย่อย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8184" y="2670048"/>
            <a:ext cx="1996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สมาชิก + เที่ยวเดินทาง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475" y="1481328"/>
            <a:ext cx="24718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99219" y="1700784"/>
            <a:ext cx="19963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14+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299219" y="2359152"/>
            <a:ext cx="1996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เครื่อง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99219" y="2670048"/>
            <a:ext cx="1996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ผู้สำรวจภาคสนาม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3611880"/>
            <a:ext cx="10874959" cy="1481328"/>
          </a:xfrm>
          <a:prstGeom prst="roundRect">
            <a:avLst>
              <a:gd name="adj" fmla="val 5556"/>
            </a:avLst>
          </a:prstGeom>
          <a:solidFill>
            <a:srgbClr val="F2F0EB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7552" y="3803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57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ถ้าเก็บด้วยกระดาษ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7552" y="4114800"/>
            <a:ext cx="102165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57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แบบสอบถาม ~6,200 ชุด</a:t>
            </a:r>
            <a:pPr indent="0" marL="0">
              <a:buNone/>
            </a:pPr>
            <a:r>
              <a:rPr lang="en-US" sz="1400" dirty="0">
                <a:solidFill>
                  <a:srgbClr val="6B645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 ที่ต้องขนกลับ เก็บรักษา แล้วคีย์เข้าคอมพิวเตอร์ทีละใบ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87552" y="4553712"/>
            <a:ext cx="102165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7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แต่ละชุดของแบบครัวเรือนมีข้อมูลย่อยเป็นสิบช่อง — สมาชิกทุกคน คูณด้วยเที่ยวเดินทางทุกเที่ยว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5303520"/>
            <a:ext cx="10874959" cy="566928"/>
          </a:xfrm>
          <a:prstGeom prst="roundRect">
            <a:avLst>
              <a:gd name="adj" fmla="val 16129"/>
            </a:avLst>
          </a:prstGeom>
          <a:solidFill>
            <a:srgbClr val="0E2A33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5303520"/>
            <a:ext cx="10326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ทุกมิติที่ตามมาในเอกสารนี้ ล้วนขยายผลตามปริมาณข้อมูลชุดนี้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การสำรวจการเดินทาง อำเภอบ้านไผ่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 มิติที่นำมาเปรียบเทียบ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แปดมิติแรกคือสิ่งที่ระบบได้เปรียบ  มิติสุดท้ายคือสิ่งที่ต้องยอมแลก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517904"/>
            <a:ext cx="3442106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37360"/>
            <a:ext cx="402336" cy="402336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08176" y="1719072"/>
            <a:ext cx="2454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ความถูกต้องของข้อมูล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ตรวจตอนกรอก ไม่ใช่ตอนวิเคราะห์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4794" y="1517904"/>
            <a:ext cx="3442106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2538" y="1737360"/>
            <a:ext cx="402336" cy="402336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11" name="Text 9"/>
          <p:cNvSpPr/>
          <p:nvPr/>
        </p:nvSpPr>
        <p:spPr>
          <a:xfrm>
            <a:off x="461253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4602" y="1719072"/>
            <a:ext cx="2454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มิติเชิงพื้นที่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2538" y="223113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พิกัดและโซน — กระดาษทำไม่ได้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1221" y="1517904"/>
            <a:ext cx="3442106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8965" y="1737360"/>
            <a:ext cx="402336" cy="402336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16" name="Text 14"/>
          <p:cNvSpPr/>
          <p:nvPr/>
        </p:nvSpPr>
        <p:spPr>
          <a:xfrm>
            <a:off x="8328965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41029" y="1719072"/>
            <a:ext cx="2454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ต้นทุนและเวลา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28965" y="223113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ตัดขั้นคีย์ข้อมูลทิ้งทั้งขั้น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2980944"/>
            <a:ext cx="3442106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3200400"/>
            <a:ext cx="402336" cy="402336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08176" y="3182112"/>
            <a:ext cx="2454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การควบคุมงานภาคสนาม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6112" y="369417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เห็นระหว่างเก็บ ไม่ใช่หลังเก็บ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4794" y="2980944"/>
            <a:ext cx="3442106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2538" y="3200400"/>
            <a:ext cx="402336" cy="402336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26" name="Text 24"/>
          <p:cNvSpPr/>
          <p:nvPr/>
        </p:nvSpPr>
        <p:spPr>
          <a:xfrm>
            <a:off x="4612538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4602" y="3182112"/>
            <a:ext cx="2454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ความเสี่ยงข้อมูลสูญหาย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12538" y="369417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สำรอง 3 ชั้น ทำงานออฟไลน์ได้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91221" y="2980944"/>
            <a:ext cx="3442106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8965" y="3200400"/>
            <a:ext cx="402336" cy="402336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31" name="Text 29"/>
          <p:cNvSpPr/>
          <p:nvPr/>
        </p:nvSpPr>
        <p:spPr>
          <a:xfrm>
            <a:off x="8328965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41029" y="3182112"/>
            <a:ext cx="2454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ความพร้อมใช้เชิงวิเคราะห์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28965" y="369417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ได้ OD matrix ทันที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" y="4443984"/>
            <a:ext cx="3442106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96112" y="4663440"/>
            <a:ext cx="402336" cy="402336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36" name="Text 34"/>
          <p:cNvSpPr/>
          <p:nvPr/>
        </p:nvSpPr>
        <p:spPr>
          <a:xfrm>
            <a:off x="896112" y="4663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08176" y="4645152"/>
            <a:ext cx="2454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ความสามารถขยายขนาด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96112" y="515721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เพิ่มคนแล้วต้นทุนไม่โตตาม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74794" y="4443984"/>
            <a:ext cx="3442106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2538" y="4663440"/>
            <a:ext cx="402336" cy="402336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41" name="Text 39"/>
          <p:cNvSpPr/>
          <p:nvPr/>
        </p:nvSpPr>
        <p:spPr>
          <a:xfrm>
            <a:off x="4612538" y="4663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124602" y="4645152"/>
            <a:ext cx="2454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ความโปร่งใส ตรวจสอบได้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612538" y="515721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รู้ว่าใครเก็บ เมื่อไหร่ ที่ไหน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91221" y="4443984"/>
            <a:ext cx="3442106" cy="1225296"/>
          </a:xfrm>
          <a:prstGeom prst="roundRect">
            <a:avLst>
              <a:gd name="adj" fmla="val 6716"/>
            </a:avLst>
          </a:prstGeom>
          <a:solidFill>
            <a:srgbClr val="FAF0E3"/>
          </a:solidFill>
          <a:ln w="12700">
            <a:solidFill>
              <a:srgbClr val="EEDCC2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28965" y="4663440"/>
            <a:ext cx="402336" cy="402336"/>
          </a:xfrm>
          <a:prstGeom prst="ellipse">
            <a:avLst/>
          </a:prstGeom>
          <a:solidFill>
            <a:srgbClr val="C4711F"/>
          </a:solidFill>
          <a:ln/>
        </p:spPr>
      </p:sp>
      <p:sp>
        <p:nvSpPr>
          <p:cNvPr id="46" name="Text 44"/>
          <p:cNvSpPr/>
          <p:nvPr/>
        </p:nvSpPr>
        <p:spPr>
          <a:xfrm>
            <a:off x="8328965" y="4663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841029" y="4645152"/>
            <a:ext cx="2454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711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ข้อจำกัดที่ต้องยอมรับ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328965" y="515721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สิ่งที่กระดาษยังได้เปรียบ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การสำรวจการเดินทาง อำเภอบ้านไผ่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384048"/>
            <a:ext cx="603504" cy="603504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499616" y="347472"/>
            <a:ext cx="100337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ความถูกต้องของข้อมูล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99616" y="786384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ความต่างเชิงโครงสร้าง ไม่ใช่แค่ความสะดวก — ระบบตรวจตอนกรอก ขณะยังอยู่หน้าผู้ให้สัมภาษณ์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การสำรวจการเดินทาง อำเภอบ้านไผ่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16736"/>
          <a:ext cx="10874959" cy="914400"/>
        </p:xfrm>
        <a:graphic>
          <a:graphicData uri="http://schemas.openxmlformats.org/drawingml/2006/table">
            <a:tbl>
              <a:tblPr/>
              <a:tblGrid>
                <a:gridCol w="2609990"/>
                <a:gridCol w="3914985"/>
                <a:gridCol w="434998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E5749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แบบกระดาษ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4F5B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ระบบนี้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ตรวจความครบ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หลังเก็บเสร็จ กลับไปถามไม่ได้แล้ว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บล็อกทันที ยังแก้ได้หน้างาน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ตรรกะเวลาเดินทาง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ตรวจไม่ได้เลย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ออกเดินทางก่อนถึงปลายทางเที่ยวก่อนหน้าไม่ได้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ลายมือ / ตัวเลือกกำกวม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ต้องตีความตอนคีย์ข้อมูล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ไม่มีปัญหา — เลือกจากรายการ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ประเภทรถ สถานที่ ผิดหมวด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เจอตอนวิเคราะห์ แก้ไม่ได้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เตือนบนการ์ดทันทีที่กรอก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58368" y="4736592"/>
            <a:ext cx="10874959" cy="493776"/>
          </a:xfrm>
          <a:prstGeom prst="roundRect">
            <a:avLst>
              <a:gd name="adj" fmla="val 37037"/>
            </a:avLst>
          </a:prstGeom>
          <a:solidFill>
            <a:srgbClr val="E8F3F4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4736592"/>
            <a:ext cx="105091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4F5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วัดจริง:  จำนวนปัญหาที่แสดงบนหน้าจอผู้สำรวจ ตรงกับชีท “ปัญหาข้อมูล” ในไฟล์ส่งมอบเป๊ะ — ใช้แหล่งความจริงเดียวกัน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58368" y="5394960"/>
            <a:ext cx="10874959" cy="566928"/>
          </a:xfrm>
          <a:prstGeom prst="roundRect">
            <a:avLst>
              <a:gd name="adj" fmla="val 16129"/>
            </a:avLst>
          </a:prstGeom>
          <a:solidFill>
            <a:srgbClr val="0E2A33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" y="5394960"/>
            <a:ext cx="10326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บนกระดาษ ข้อมูลไม่ครบ = ข้อมูลเสียถาวร   ในระบบนี้ = สิ่งที่ยังแก้ทันขณะยังอยู่หน้างาน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384048"/>
            <a:ext cx="603504" cy="603504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499616" y="347472"/>
            <a:ext cx="100337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มิติเชิงพื้นที่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99616" y="786384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อันนี้ไม่ใช่ “ดีกว่า” แต่คือ ทำได้ / ทำไม่ได้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การสำรวจการเดินทาง อำเภอบ้านไผ่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16736"/>
            <a:ext cx="60350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5727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สิ่งที่กระดาษทำไม่ได้เลย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029968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B2A3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พิกัด GPS ติดมากับทุกระเบียน พร้อมบอกที่มาของพิกัด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B2A3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จับโซนให้อัตโนมัติ เทียบกับ 135 โซน แยกภายใน/ภายนอก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B2A3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ได้ OD matrix โดยไม่มีมนุษย์มาแปลงข้อความเป็นเลขโซน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B2A3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ค้นสถานที่จากฐาน 300 แห่งที่เตรียมไว้ล่วงหน้า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B2A3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แยกได้ทันทีว่าต้นทาง-ปลายทางอยู่ในหรือนอกพื้นที่ศึกษา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04304" y="1316736"/>
            <a:ext cx="4529023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60336" y="1481328"/>
            <a:ext cx="4016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เวลาจับโซนทั้งชุดข้อมูล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260336" y="1773936"/>
            <a:ext cx="401695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strike="sngStrike" dirty="0">
                <a:solidFill>
                  <a:srgbClr val="7E7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10.4 วิ</a:t>
            </a:r>
            <a:pPr indent="0" marL="0">
              <a:buNone/>
            </a:pPr>
            <a:r>
              <a:rPr lang="en-US" sz="1700" dirty="0">
                <a:solidFill>
                  <a:srgbClr val="DCE4E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  →   </a:t>
            </a:r>
            <a:pPr indent="0" marL="0">
              <a:buNone/>
            </a:pPr>
            <a:r>
              <a:rPr lang="en-US" sz="30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0.5 วิ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60336" y="2340864"/>
            <a:ext cx="4016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หลังใส่ bounding-box pre-check และ memoize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04304" y="2889504"/>
            <a:ext cx="4529023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60336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ส่งออก Excel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260336" y="34564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3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เร็วขึ้น </a:t>
            </a:r>
            <a:pPr indent="0" marL="0">
              <a:buNone/>
            </a:pPr>
            <a:r>
              <a:rPr lang="en-US" sz="30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 เท่า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60336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จากการแก้จุดคำนวณเดิมที่ทำงานซ้ำ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4663440"/>
            <a:ext cx="10874959" cy="566928"/>
          </a:xfrm>
          <a:prstGeom prst="roundRect">
            <a:avLst>
              <a:gd name="adj" fmla="val 16129"/>
            </a:avLst>
          </a:prstGeom>
          <a:solidFill>
            <a:srgbClr val="FAF0E3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663440"/>
            <a:ext cx="10326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11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การแปลง “บ้านอยู่แถวๆ ตลาด” ให้เป็นเลขโซน คือจุดที่เกิดความคลาดเคลื่อนมากที่สุดจุดหนึ่งของงานสำรวจการเดินทาง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539496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บนกระดาษ ขั้นตอนนี้คือมีคนนั่งเปิดแผนที่ตีความทีละใบ — และตรวจย้อนหลังไม่ได้ว่าใครตัดสินใจอะไร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384048"/>
            <a:ext cx="603504" cy="603504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499616" y="347472"/>
            <a:ext cx="100337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ต้นทุนและเวลา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99616" y="786384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ตัดขั้นตอนคีย์ข้อมูลทิ้งทั้งขั้น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การสำรวจการเดินทาง อำเภอบ้านไผ่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16736"/>
            <a:ext cx="4114800" cy="2651760"/>
          </a:xfrm>
          <a:prstGeom prst="roundRect">
            <a:avLst>
              <a:gd name="adj" fmla="val 3103"/>
            </a:avLst>
          </a:prstGeom>
          <a:solidFill>
            <a:srgbClr val="FAF0E3"/>
          </a:solidFill>
          <a:ln w="12700">
            <a:solidFill>
              <a:srgbClr val="EEDCC2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5910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642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แรงงานคีย์ข้อมูลที่ประหยัดได้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32688" y="192024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711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300–400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32688" y="27614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42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ชั่วโมง-คน  →  ลดเหลือ 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31455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7B4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ยังไม่รวมรอบตรวจทาน ซึ่งตามมาตรฐานงานคีย์ข้อมูลต้องทำอีกเท่าตัว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02352" y="1316736"/>
          <a:ext cx="6430975" cy="914400"/>
        </p:xfrm>
        <a:graphic>
          <a:graphicData uri="http://schemas.openxmlformats.org/drawingml/2006/table">
            <a:tbl>
              <a:tblPr/>
              <a:tblGrid>
                <a:gridCol w="2701010"/>
                <a:gridCol w="1993602"/>
                <a:gridCol w="173636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2757D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รายการ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E5749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แบบกระดาษ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4F5B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ระบบนี้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คีย์ข้อมูลเข้าคอมพิวเตอร์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~300–400 ชม.-คน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4F5B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0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ตรวจทาน (double entry)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อีกราว 1 เท่าตัว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4F5B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0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ค่าพิมพ์ ขนส่ง จัดเก็บกระดาษ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มี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4F5B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0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ข้อมูลพร้อมใช้หลังเก็บวันสุดท้าย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สัปดาห์ – เดือน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4F5B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ทันที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58368" y="4151376"/>
            <a:ext cx="4114800" cy="457200"/>
          </a:xfrm>
          <a:prstGeom prst="roundRect">
            <a:avLst>
              <a:gd name="adj" fmla="val 40000"/>
            </a:avLst>
          </a:prstGeom>
          <a:solidFill>
            <a:srgbClr val="F4F2ED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1513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7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ประมาณการ — สมมติ 5–8 นาที/ครัวเรือน, 2 นาที/ริมทาง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8368" y="4846320"/>
            <a:ext cx="10874959" cy="566928"/>
          </a:xfrm>
          <a:prstGeom prst="roundRect">
            <a:avLst>
              <a:gd name="adj" fmla="val 16129"/>
            </a:avLst>
          </a:prstGeom>
          <a:solidFill>
            <a:srgbClr val="0E2A33"/>
          </a:solidFill>
          <a:ln/>
        </p:spPr>
      </p:sp>
      <p:sp>
        <p:nvSpPr>
          <p:cNvPr id="17" name="Text 14"/>
          <p:cNvSpPr/>
          <p:nvPr/>
        </p:nvSpPr>
        <p:spPr>
          <a:xfrm>
            <a:off x="932688" y="4846320"/>
            <a:ext cx="10326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ขั้นคีย์ข้อมูลไม่ได้แค่ “แพง” — มันคือขั้นที่ใส่ความผิดพลาดใหม่เข้าไปในข้อมูลที่เก็บมาถูกแล้ว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8368" y="5504688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การตัดขั้นนี้ออกจึงเป็นกำไรด้านคุณภาพ ไม่ใช่แค่ด้านต้นทุน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384048"/>
            <a:ext cx="603504" cy="603504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499616" y="347472"/>
            <a:ext cx="100337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การควบคุมงานภาคสนาม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99616" y="786384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เห็นระหว่างเก็บ ไม่ใช่หลังเก็บ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การสำรวจการเดินทาง อำเภอบ้านไผ่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16736"/>
          <a:ext cx="10874959" cy="914400"/>
        </p:xfrm>
        <a:graphic>
          <a:graphicData uri="http://schemas.openxmlformats.org/drawingml/2006/table">
            <a:tbl>
              <a:tblPr/>
              <a:tblGrid>
                <a:gridCol w="2609990"/>
                <a:gridCol w="3914985"/>
                <a:gridCol w="434998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E5749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แบบกระดาษ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4F5B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ระบบนี้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ความคืบหน้า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รู้เมื่อผู้สำรวจกลับมาส่งงาน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เห็นสด รายผู้ควบคุม / จุด / คน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โควตาที่ยังขาด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แก้ไม่ทัน รู้ตอนจบงาน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เห็นวันนี้ ปรับกำลังพรุ่งนี้ได้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คุณภาพงานรายคน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ตรวจยาก ต้องสุ่มเปิดดู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เห็นทันทีว่าใครมีระเบียนมีปัญหาผิดปกติ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ร่องรอยการทำงาน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ไม่มี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ทุกระเบียนมีชื่อผู้สำรวจ ผู้ควบคุม เวลาบันทึก</a:t>
                      </a:r>
                      <a:endParaRPr lang="en-US" sz="125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58368" y="4791456"/>
            <a:ext cx="10874959" cy="566928"/>
          </a:xfrm>
          <a:prstGeom prst="roundRect">
            <a:avLst>
              <a:gd name="adj" fmla="val 16129"/>
            </a:avLst>
          </a:prstGeom>
          <a:solidFill>
            <a:srgbClr val="0E2A33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4791456"/>
            <a:ext cx="10326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ในเชิงบริหารสัญญา อันนี้เปลี่ยนงานสำรวจจาก “รอผล” เป็น “จัดการได้”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" y="546811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ผู้ควบคุมไม่ต้องรอสรุปปลายงานเพื่อรู้ว่าเกิดปัญหา — และเจ้าของงานเห็นความคืบหน้าได้ระหว่างทาง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384048"/>
            <a:ext cx="603504" cy="603504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499616" y="347472"/>
            <a:ext cx="100337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ความเสี่ยงข้อมูลสูญหาย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99616" y="786384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ข้อมูลถูกสำรองพร้อมกัน 3 ชั้น และทำงานได้แม้ไม่มีสัญญาณ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การสำรวจการเดินทาง อำเภอบ้านไผ่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16736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316736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ชั้นที่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10512" y="14630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หน่วยความจำในเครื่อง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10512" y="17922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บันทึกทันทีที่กรอก แม้ปิดแอป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304288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2304288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ชั้นที่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10512" y="24505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สำรองในเครื่องอีกชุด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10512" y="27797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กันกรณีชั้นแรกเสียหาย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291840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E8F3F4"/>
          </a:solidFill>
          <a:ln w="12700">
            <a:solidFill>
              <a:srgbClr val="C7E0E2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3291840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ชั้นที่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10512" y="343814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ฐานข้อมูลบนคลาวด์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10512" y="37673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ส่งขึ้นอัตโนมัติเมื่อมีสัญญาณ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1316736"/>
          <a:ext cx="5150815" cy="914400"/>
        </p:xfrm>
        <a:graphic>
          <a:graphicData uri="http://schemas.openxmlformats.org/drawingml/2006/table">
            <a:tbl>
              <a:tblPr/>
              <a:tblGrid>
                <a:gridCol w="1854293"/>
                <a:gridCol w="1287704"/>
                <a:gridCol w="200881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2757D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สถานการณ์</a:t>
                      </a:r>
                      <a:endParaRPr lang="en-US" sz="12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E5749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แบบกระดาษ</a:t>
                      </a:r>
                      <a:endParaRPr lang="en-US" sz="12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4F5B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ระบบนี้</a:t>
                      </a:r>
                      <a:endParaRPr lang="en-US" sz="12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ทำหาย เปียกฝน ลืมบนรถ</a:t>
                      </a:r>
                      <a:endParaRPr lang="en-US" sz="12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เสียถาวร ไม่มีสำเนา</a:t>
                      </a:r>
                      <a:endParaRPr lang="en-US" sz="12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ไม่กระทบ</a:t>
                      </a:r>
                      <a:endParaRPr lang="en-US" sz="12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ไม่มีสัญญาณเน็ต</a:t>
                      </a:r>
                      <a:endParaRPr lang="en-US" sz="12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—</a:t>
                      </a:r>
                      <a:endParaRPr lang="en-US" sz="12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ทำงานต่อได้ ส่งทีหลัง</a:t>
                      </a:r>
                      <a:endParaRPr lang="en-US" sz="12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เครื่องพัง</a:t>
                      </a:r>
                      <a:endParaRPr lang="en-US" sz="12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—</a:t>
                      </a:r>
                      <a:endParaRPr lang="en-US" sz="12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ข้อมูลที่ส่งแล้วอยู่บนคลาวด์</a:t>
                      </a:r>
                      <a:endParaRPr lang="en-US" sz="12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เผลอรีเฟรชหน้าจอ</a:t>
                      </a:r>
                      <a:endParaRPr lang="en-US" sz="12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456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—</a:t>
                      </a:r>
                      <a:endParaRPr lang="en-US" sz="12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กลับหน้าเดิม ไม่ต้องกรอกซ้ำ</a:t>
                      </a:r>
                      <a:endParaRPr lang="en-US" sz="12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14300" marR="1143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B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58368" y="4626864"/>
            <a:ext cx="10874959" cy="566928"/>
          </a:xfrm>
          <a:prstGeom prst="roundRect">
            <a:avLst>
              <a:gd name="adj" fmla="val 16129"/>
            </a:avLst>
          </a:prstGeom>
          <a:solidFill>
            <a:srgbClr val="FAF0E3"/>
          </a:solidFill>
          <a:ln/>
        </p:spPr>
      </p:sp>
      <p:sp>
        <p:nvSpPr>
          <p:cNvPr id="22" name="Text 19"/>
          <p:cNvSpPr/>
          <p:nvPr/>
        </p:nvSpPr>
        <p:spPr>
          <a:xfrm>
            <a:off x="932688" y="4626864"/>
            <a:ext cx="10326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11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จุดอ่อนของกระดาษที่มักถูกมองข้าม — ไม่มีทางรู้ด้วยซ้ำว่าหายไปกี่ใบ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8368" y="5358384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ผู้สำรวจไม่ต้องรอสัญญาณ — กรอกต่อได้ทันที ระบบส่งขึ้นระบบให้เองเมื่อกลับเข้าพื้นที่ที่มีอินเทอร์เน็ต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384048"/>
            <a:ext cx="603504" cy="603504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499616" y="347472"/>
            <a:ext cx="100337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ความพร้อมใช้เชิงวิเคราะห์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99616" y="786384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ข้อมูลออกมาในรูปที่โมเดลใช้ได้เกือบทันที ไม่ต้องผ่านขั้นจัดระเบียบข้อมูลดิบ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การสำรวจการเดินทาง อำเภอบ้านไผ่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16736"/>
            <a:ext cx="60350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609344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B2A3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ไฟล์ Excel หลายชีท โครงสร้างคงที่ คอลัมน์ช่วงการเดินทางขยายเองตามจำนวนจริง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B2A3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OD matrix คำนวณสด ทั้งระดับโซนและระดับกลุ่ม ปรับเส้นแบ่งได้เอง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B2A3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ชีทปัญหาข้อมูลแยกให้ ตรวจสอบได้ก่อนส่งมอบ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B2A3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ทุกค่าคำนวณจากข้อมูลดิบโดยตรง ไม่ผ่านการพิมพ์ซ้ำ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04304" y="1316736"/>
            <a:ext cx="4529023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0336" y="1481328"/>
            <a:ext cx="4016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ผลรวม OD matrix (แกนโซนซ้ำ)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260336" y="1773936"/>
            <a:ext cx="401695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rgbClr val="7E7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1,528,367</a:t>
            </a:r>
            <a:pPr indent="0" marL="0">
              <a:buNone/>
            </a:pPr>
            <a:r>
              <a:rPr lang="en-US" sz="1700" dirty="0">
                <a:solidFill>
                  <a:srgbClr val="DCE4E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  →   </a:t>
            </a:r>
            <a:pPr indent="0" marL="0">
              <a:buNone/>
            </a:pPr>
            <a:r>
              <a:rPr lang="en-US" sz="25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1,287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004304" y="2706624"/>
            <a:ext cx="4529023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60336" y="2871216"/>
            <a:ext cx="4016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จำนวนที่จัดเป็นโซนภายใน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60336" y="3163824"/>
            <a:ext cx="401695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rgbClr val="7E7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1,034</a:t>
            </a:r>
            <a:pPr indent="0" marL="0">
              <a:buNone/>
            </a:pPr>
            <a:r>
              <a:rPr lang="en-US" sz="1700" dirty="0">
                <a:solidFill>
                  <a:srgbClr val="DCE4E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  →   </a:t>
            </a:r>
            <a:pPr indent="0" marL="0">
              <a:buNone/>
            </a:pPr>
            <a:r>
              <a:rPr lang="en-US" sz="25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8368" y="4224528"/>
            <a:ext cx="10874959" cy="512064"/>
          </a:xfrm>
          <a:prstGeom prst="roundRect">
            <a:avLst>
              <a:gd name="adj" fmla="val 35714"/>
            </a:avLst>
          </a:prstGeom>
          <a:solidFill>
            <a:srgbClr val="E8F3F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224528"/>
            <a:ext cx="105091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4F5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วัดจริง:  ข้อผิดพลาดการคำนวณสองรายการนี้ถูกจับได้ระหว่างพัฒนา — บนกระดาษไม่มีใครตรวจตัวเลขระดับนี้ย้อนหลังได้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5029200"/>
            <a:ext cx="10874959" cy="566928"/>
          </a:xfrm>
          <a:prstGeom prst="roundRect">
            <a:avLst>
              <a:gd name="adj" fmla="val 16129"/>
            </a:avLst>
          </a:prstGeom>
          <a:solidFill>
            <a:srgbClr val="0E2A33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5029200"/>
            <a:ext cx="10326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ขั้นตอน “จัดระเบียบข้อมูลดิบ” ที่ปกติกินเวลาเป็นสัปดาห์ ถูกย้ายมาอยู่ในตัวเครื่องมือแล้ว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384048"/>
            <a:ext cx="603504" cy="603504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499616" y="347472"/>
            <a:ext cx="100337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ความสามารถขยายขนาด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99616" y="786384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เพิ่มผู้สำรวจอีกเท่าตัว ต้นทุนฝั่งจัดการแทบไม่ขยับ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การสำรวจการเดินทาง อำเภอบ้านไผ่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16736"/>
            <a:ext cx="5760720" cy="2743200"/>
          </a:xfrm>
          <a:prstGeom prst="roundRect">
            <a:avLst>
              <a:gd name="adj" fmla="val 3000"/>
            </a:avLst>
          </a:prstGeom>
          <a:solidFill>
            <a:srgbClr val="E8F3F4"/>
          </a:solidFill>
          <a:ln w="12700">
            <a:solidFill>
              <a:srgbClr val="C7E0E2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9264" y="15910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4F5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จำนวนคำขอข้อมูลต่อการเปิดหน้าสรุป 1 ครั้ง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9264" y="1956816"/>
            <a:ext cx="5120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trike="sngStrike" dirty="0">
                <a:solidFill>
                  <a:srgbClr val="7E7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7,760</a:t>
            </a:r>
            <a:pPr indent="0" marL="0">
              <a:buNone/>
            </a:pPr>
            <a:r>
              <a:rPr lang="en-US" sz="2000" dirty="0">
                <a:solidFill>
                  <a:srgbClr val="A9C6C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  →   </a:t>
            </a:r>
            <a:pPr indent="0" marL="0">
              <a:buNone/>
            </a:pPr>
            <a:r>
              <a:rPr lang="en-US" sz="52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9264" y="3017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C8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หลังเปลี่ยนวิธีดึงข้อมูลของหน้าสรุปผล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9264" y="334670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4F5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วัดจริง: ที่ 2,001 คำขอ ใช้เวลา 57.8 วินาที และเวลาโตเร็วกว่าจำนวนข้อมูล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48272" y="1316736"/>
            <a:ext cx="4785055" cy="1298448"/>
          </a:xfrm>
          <a:prstGeom prst="roundRect">
            <a:avLst>
              <a:gd name="adj" fmla="val 6338"/>
            </a:avLst>
          </a:prstGeom>
          <a:solidFill>
            <a:srgbClr val="F2F0EB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22592" y="15179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37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แบบกระดาษ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22592" y="18105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574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ต้นทุนคีย์ข้อมูลโตเป็นเส้นตรงตามจำนวนแบบสอบถาม — เสมอ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48272" y="2761488"/>
            <a:ext cx="4785055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22592" y="29626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ระบบนี้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22592" y="32552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3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เพิ่มผู้สำรวจ เพิ่มจุด เพิ่มวัน — งานฝั่งจัดการเท่าเดิม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4590288"/>
            <a:ext cx="10874959" cy="566928"/>
          </a:xfrm>
          <a:prstGeom prst="roundRect">
            <a:avLst>
              <a:gd name="adj" fmla="val 16129"/>
            </a:avLst>
          </a:prstGeom>
          <a:solidFill>
            <a:srgbClr val="0E2A33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590288"/>
            <a:ext cx="10326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ข้อได้เปรียบนี้ยิ่งชัดเมื่องานใหญ่ขึ้น — และงานสำรวจการเดินทางมักใหญ่ขึ้นเสมอ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5321808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ต้นทุนฝั่งจัดการของระบบเป็นค่าคงที่ ไม่ผูกกับจำนวนแบบสอบถามที่เก็บได้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384048"/>
            <a:ext cx="603504" cy="603504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499616" y="347472"/>
            <a:ext cx="100337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ความโปร่งใสและตรวจสอบย้อนหลัง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99616" y="786384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ตอบคำถาม “รู้ได้อย่างไรว่าข้อมูลชุดนี้เก็บมาจริง” ได้ตรงๆ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การสำรวจการเดินทาง อำเภอบ้านไผ่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3417722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1682496"/>
            <a:ext cx="475488" cy="475488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682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2322576"/>
            <a:ext cx="2869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ระบุที่มาได้ทุกระเบียน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2798064"/>
            <a:ext cx="28690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ใครเก็บ ใครควบคุม เก็บเมื่อไหร่ พิกัดมาจากวิธีใด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6986" y="1371600"/>
            <a:ext cx="3417722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1306" y="1682496"/>
            <a:ext cx="475488" cy="475488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15" name="Text 13"/>
          <p:cNvSpPr/>
          <p:nvPr/>
        </p:nvSpPr>
        <p:spPr>
          <a:xfrm>
            <a:off x="4661306" y="1682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1306" y="2322576"/>
            <a:ext cx="2869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กันข้อมูลทดลองปนชุดจริง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1306" y="2798064"/>
            <a:ext cx="28690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ระบบรอบเก็บข้อมูลคัดข้อมูลก่อนรอบออกอัตโนมัติ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15605" y="1371600"/>
            <a:ext cx="3417722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89925" y="1682496"/>
            <a:ext cx="475488" cy="475488"/>
          </a:xfrm>
          <a:prstGeom prst="ellipse">
            <a:avLst/>
          </a:prstGeom>
          <a:solidFill>
            <a:srgbClr val="12707F"/>
          </a:solidFill>
          <a:ln/>
        </p:spPr>
      </p:sp>
      <p:sp>
        <p:nvSpPr>
          <p:cNvPr id="20" name="Text 18"/>
          <p:cNvSpPr/>
          <p:nvPr/>
        </p:nvSpPr>
        <p:spPr>
          <a:xfrm>
            <a:off x="8389925" y="1682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89925" y="2322576"/>
            <a:ext cx="2869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แก้ย้อนหลังไม่ได้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89925" y="2798064"/>
            <a:ext cx="28690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ระเบียนของรอบเก่าถูกกันไม่ให้ดันขึ้นระบบซ้ำ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" y="3767328"/>
            <a:ext cx="10874959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9264" y="3767328"/>
            <a:ext cx="1025316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F5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บันทึกติดไปกับทุกระเบียน:   </a:t>
            </a:r>
            <a:pPr indent="0" marL="0">
              <a:buNone/>
            </a:pPr>
            <a:r>
              <a:rPr lang="en-US" sz="1250" dirty="0">
                <a:solidFill>
                  <a:srgbClr val="1B2A3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ชื่อผู้สำรวจ  ·  ชื่อผู้ควบคุม  ·  วันเวลาที่บันทึก  ·  พิกัด  ·  ที่มาของพิกัด  ·  รอบเก็บข้อมูล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" y="4809744"/>
            <a:ext cx="10874959" cy="566928"/>
          </a:xfrm>
          <a:prstGeom prst="roundRect">
            <a:avLst>
              <a:gd name="adj" fmla="val 16129"/>
            </a:avLst>
          </a:prstGeom>
          <a:solidFill>
            <a:srgbClr val="FAF0E3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809744"/>
            <a:ext cx="10326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11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บนกระดาษ ถ้าแบบทดลองปนเข้ากล่องเดียวกับของจริง จะแยกไม่ออกอีกเลย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" y="5541264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สำหรับการส่งมอบให้เจ้าของงาน ร่องรอยเหล่านี้คือสิ่งที่ใช้ยืนยันคุณภาพงานได้โดยไม่ต้องเชื่อคำบอกเล่า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384048"/>
            <a:ext cx="603504" cy="603504"/>
          </a:xfrm>
          <a:prstGeom prst="ellipse">
            <a:avLst/>
          </a:prstGeom>
          <a:solidFill>
            <a:srgbClr val="C4711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499616" y="347472"/>
            <a:ext cx="100337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ข้อจำกัดที่ต้องยอมรับ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99616" y="786384"/>
            <a:ext cx="10033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ไม่มีอะไรได้มาฟรี — นี่คือสิ่งที่กระดาษยังได้เปรียบ และวิธีที่ระบบรับมือ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การสำรวจการเดินทาง อำเภอบ้านไผ่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71600"/>
          <a:ext cx="10874959" cy="914400"/>
        </p:xfrm>
        <a:graphic>
          <a:graphicData uri="http://schemas.openxmlformats.org/drawingml/2006/table">
            <a:tbl>
              <a:tblPr/>
              <a:tblGrid>
                <a:gridCol w="4567483"/>
                <a:gridCol w="6307476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2757D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ความเสี่ยง</a:t>
                      </a:r>
                      <a:endParaRPr lang="en-US" sz="13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711F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สถานะในระบบนี้</a:t>
                      </a:r>
                      <a:endParaRPr lang="en-US" sz="13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แบตหมด หรือเครื่องเสียกลางวัน</a:t>
                      </a:r>
                      <a:endParaRPr lang="en-US" sz="13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60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ต้องพก powerbank — กระดาษไม่มีปัญหานี้</a:t>
                      </a:r>
                      <a:endParaRPr lang="en-US" sz="13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ผู้สำรวจไม่คุ้นเทคโนโลยี</a:t>
                      </a:r>
                      <a:endParaRPr lang="en-US" sz="13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60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ต้องอบรมก่อนลงพื้นที่ กระดาษเรียนรู้ได้เร็วกว่า</a:t>
                      </a:r>
                      <a:endParaRPr lang="en-US" sz="13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นาฬิกาของเครื่องตั้งผิด</a:t>
                      </a:r>
                      <a:endParaRPr lang="en-US" sz="13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60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มีระบบเตือน แต่ยังต้องอาศัยวินัยผู้ใช้</a:t>
                      </a:r>
                      <a:endParaRPr lang="en-US" sz="13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เครื่องค้างเวอร์ชันเก่า</a:t>
                      </a:r>
                      <a:endParaRPr lang="en-US" sz="13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60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ช่องเดียวที่ยังไม่ปิดตาย — ปิดเพิ่มได้ถ้าต้องการ</a:t>
                      </a:r>
                      <a:endParaRPr lang="en-US" sz="13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A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แก้แบบสอบถามกลางคัน</a:t>
                      </a:r>
                      <a:endParaRPr lang="en-US" sz="13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A6033"/>
                          </a:solidFill>
                          <a:latin typeface="Kanit" pitchFamily="34" charset="0"/>
                          <a:ea typeface="Kanit" pitchFamily="34" charset="-122"/>
                          <a:cs typeface="Kanit" pitchFamily="34" charset="-120"/>
                        </a:rPr>
                        <a:t>ยากกว่ากระดาษมาก ต้องอัปเดตทุกเครื่อง</a:t>
                      </a:r>
                      <a:endParaRPr lang="en-US" sz="1300" dirty="0">
                        <a:latin typeface="Kanit" charset="0"/>
                        <a:ea typeface="Kanit" charset="0"/>
                        <a:cs typeface="Kanit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58368" y="5230368"/>
            <a:ext cx="10874959" cy="566928"/>
          </a:xfrm>
          <a:prstGeom prst="roundRect">
            <a:avLst>
              <a:gd name="adj" fmla="val 16129"/>
            </a:avLst>
          </a:prstGeom>
          <a:solidFill>
            <a:srgbClr val="0E2A33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5230368"/>
            <a:ext cx="10326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ข้อจำกัดทั้งหมดนี้จัดการได้ด้วยการเตรียมงาน — ต่างจากข้อจำกัดของกระดาษ ที่แก้ไม่ได้ด้วยการเตรียมงาน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หลักฐานเชิงประจักษ์ที่วัดได้จริง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ตัวเลขทั้งหมดในหน้านี้มาจากการวัดในระบบจริง ไม่ใช่การประมาณการ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517904"/>
            <a:ext cx="530032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82496"/>
            <a:ext cx="478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คำขอข้อมูลต่อการเปิดหน้าสรุป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1975104"/>
            <a:ext cx="47882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trike="sngStrike" dirty="0">
                <a:solidFill>
                  <a:srgbClr val="7E7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7,760</a:t>
            </a:r>
            <a:pPr indent="0" marL="0">
              <a:buNone/>
            </a:pPr>
            <a:r>
              <a:rPr lang="en-US" sz="1700" dirty="0">
                <a:solidFill>
                  <a:srgbClr val="DCE4E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  →   </a:t>
            </a:r>
            <a:pPr indent="0" marL="0">
              <a:buNone/>
            </a:pPr>
            <a:r>
              <a:rPr lang="en-US" sz="29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33008" y="1517904"/>
            <a:ext cx="530032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89040" y="1682496"/>
            <a:ext cx="478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เวลาจับโซนทั้งชุด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89040" y="1975104"/>
            <a:ext cx="47882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trike="sngStrike" dirty="0">
                <a:solidFill>
                  <a:srgbClr val="7E7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10.4 วิ</a:t>
            </a:r>
            <a:pPr indent="0" marL="0">
              <a:buNone/>
            </a:pPr>
            <a:r>
              <a:rPr lang="en-US" sz="1700" dirty="0">
                <a:solidFill>
                  <a:srgbClr val="DCE4E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  →   </a:t>
            </a:r>
            <a:pPr indent="0" marL="0">
              <a:buNone/>
            </a:pPr>
            <a:r>
              <a:rPr lang="en-US" sz="29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0.5 วิ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58368" y="3182112"/>
            <a:ext cx="530032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346704"/>
            <a:ext cx="478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ผลรวม OD matrix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639312"/>
            <a:ext cx="47882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trike="sngStrike" dirty="0">
                <a:solidFill>
                  <a:srgbClr val="7E7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1,528,367</a:t>
            </a:r>
            <a:pPr indent="0" marL="0">
              <a:buNone/>
            </a:pPr>
            <a:r>
              <a:rPr lang="en-US" sz="1700" dirty="0">
                <a:solidFill>
                  <a:srgbClr val="DCE4E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  →   </a:t>
            </a:r>
            <a:pPr indent="0" marL="0">
              <a:buNone/>
            </a:pPr>
            <a:r>
              <a:rPr lang="en-US" sz="29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1,287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33008" y="3182112"/>
            <a:ext cx="530032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CE4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89040" y="3346704"/>
            <a:ext cx="478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757D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จำนวนที่จัดเป็นโซนภายใน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89040" y="3639312"/>
            <a:ext cx="47882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trike="sngStrike" dirty="0">
                <a:solidFill>
                  <a:srgbClr val="7E7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1,034</a:t>
            </a:r>
            <a:pPr indent="0" marL="0">
              <a:buNone/>
            </a:pPr>
            <a:r>
              <a:rPr lang="en-US" sz="1700" dirty="0">
                <a:solidFill>
                  <a:srgbClr val="DCE4E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  →   </a:t>
            </a:r>
            <a:pPr indent="0" marL="0">
              <a:buNone/>
            </a:pPr>
            <a:r>
              <a:rPr lang="en-US" sz="2900" b="1" dirty="0">
                <a:solidFill>
                  <a:srgbClr val="12707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58368" y="4846320"/>
            <a:ext cx="10874959" cy="1060704"/>
          </a:xfrm>
          <a:prstGeom prst="roundRect">
            <a:avLst>
              <a:gd name="adj" fmla="val 7759"/>
            </a:avLst>
          </a:prstGeom>
          <a:solidFill>
            <a:srgbClr val="E8F3F4"/>
          </a:solidFill>
          <a:ln w="12700">
            <a:solidFill>
              <a:srgbClr val="C7E0E2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9264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4F5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นอกจากตัวเลข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9264" y="5285232"/>
            <a:ext cx="102531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3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ยืนยันแล้วว่าจำนวนปัญหาข้อมูลที่ผู้สำรวจเห็นบนหน้าจอ ตรงกับที่ปรากฏในไฟล์ส่งมอบทุกรายการ — หน้าจอกับไฟล์ใช้แหล่งความจริงเดียวกัน จึงขัดแย้งกันไม่ได้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การสำรวจการเดินทาง อำเภอบ้านไผ่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120640" cy="5120640"/>
          </a:xfrm>
          <a:prstGeom prst="ellipse">
            <a:avLst/>
          </a:prstGeom>
          <a:solidFill>
            <a:srgbClr val="16414D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097280"/>
            <a:ext cx="3291840" cy="3291840"/>
          </a:xfrm>
          <a:prstGeom prst="ellipse">
            <a:avLst/>
          </a:prstGeom>
          <a:solidFill>
            <a:srgbClr val="0B4F5B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841248"/>
            <a:ext cx="108749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7FB6B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สรุป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2900" b="1" dirty="0">
                <a:solidFill>
                  <a:srgbClr val="9F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กระดาษให้ข้อมูลดิบที่ต้องซ่อมอีกหลายสัปดาห์
</a:t>
            </a:r>
            <a:pPr indent="0" marL="0">
              <a:lnSpc>
                <a:spcPct val="12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ระบบนี้ให้ข้อมูลที่ตรวจแล้ว ติดพิกัดแล้ว จับโซนแล้ว </a:t>
            </a:r>
            <a:pPr indent="0" marL="0">
              <a:lnSpc>
                <a:spcPct val="122000"/>
              </a:lnSpc>
              <a:buNone/>
            </a:pPr>
            <a:r>
              <a:rPr lang="en-US" sz="2900" b="1" dirty="0">
                <a:solidFill>
                  <a:srgbClr val="4FC9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ในวันที่เก็บ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58368" y="3529584"/>
            <a:ext cx="10241280" cy="1078992"/>
          </a:xfrm>
          <a:prstGeom prst="roundRect">
            <a:avLst>
              <a:gd name="adj" fmla="val 8475"/>
            </a:avLst>
          </a:prstGeom>
          <a:solidFill>
            <a:srgbClr val="163E49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3529584"/>
            <a:ext cx="9601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DBD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ประโยชน์ที่ใหญ่ที่สุดไม่ใช่การประหยัดเวลาคีย์ข้อมูล  แต่คือ </a:t>
            </a:r>
            <a:pPr indent="0" marL="0">
              <a:buNone/>
            </a:pPr>
            <a:r>
              <a:rPr lang="en-US" sz="1700" b="1" dirty="0">
                <a:solidFill>
                  <a:srgbClr val="4FC9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ความผิดพลาดถูกจับได้ตอนที่ยังแก้ได้</a:t>
            </a:r>
            <a:pPr indent="0" marL="0">
              <a:buNone/>
            </a:pPr>
            <a:r>
              <a:rPr lang="en-US" sz="1500" dirty="0">
                <a:solidFill>
                  <a:srgbClr val="C6DBD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 แทนที่จะถูกค้นพบตอนที่แก้ไม่ได้แล้ว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4974336"/>
            <a:ext cx="3145536" cy="512064"/>
          </a:xfrm>
          <a:prstGeom prst="roundRect">
            <a:avLst>
              <a:gd name="adj" fmla="val 46429"/>
            </a:avLst>
          </a:prstGeom>
          <a:solidFill>
            <a:srgbClr val="1D4E5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4974336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CDD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ข้อมูลถูกต้องตั้งแต่หน้างาน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78224" y="4974336"/>
            <a:ext cx="3145536" cy="512064"/>
          </a:xfrm>
          <a:prstGeom prst="roundRect">
            <a:avLst>
              <a:gd name="adj" fmla="val 46429"/>
            </a:avLst>
          </a:prstGeom>
          <a:solidFill>
            <a:srgbClr val="1D4E5B"/>
          </a:solidFill>
          <a:ln/>
        </p:spPr>
      </p:sp>
      <p:sp>
        <p:nvSpPr>
          <p:cNvPr id="11" name="Text 9"/>
          <p:cNvSpPr/>
          <p:nvPr/>
        </p:nvSpPr>
        <p:spPr>
          <a:xfrm>
            <a:off x="4078224" y="4974336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CDD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พร้อมวิเคราะห์ทันที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4974336"/>
            <a:ext cx="3145536" cy="512064"/>
          </a:xfrm>
          <a:prstGeom prst="roundRect">
            <a:avLst>
              <a:gd name="adj" fmla="val 46429"/>
            </a:avLst>
          </a:prstGeom>
          <a:solidFill>
            <a:srgbClr val="1D4E5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4974336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CDD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ตรวจสอบย้อนหลังได้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9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การสำรวจการเดินทาง อำเภอบ้านไผ่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9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ประโยชน์เชิงประจักษ์ของระบบเก็บข้อมูลดิจิทัล</dc:title>
  <dc:subject>PptxGenJS Presentation</dc:subject>
  <dc:creator>INTERVIEW Survey System</dc:creator>
  <cp:lastModifiedBy>INTERVIEW Survey System</cp:lastModifiedBy>
  <cp:revision>1</cp:revision>
  <dcterms:created xsi:type="dcterms:W3CDTF">2026-08-11T02:56:43Z</dcterms:created>
  <dcterms:modified xsi:type="dcterms:W3CDTF">2026-08-11T02:56:43Z</dcterms:modified>
</cp:coreProperties>
</file>