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737360"/>
            <a:ext cx="5852160" cy="5852160"/>
          </a:xfrm>
          <a:prstGeom prst="ellipse">
            <a:avLst/>
          </a:prstGeom>
          <a:solidFill>
            <a:srgbClr val="1B3660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383280"/>
            <a:ext cx="3108960" cy="3108960"/>
          </a:xfrm>
          <a:prstGeom prst="ellipse">
            <a:avLst/>
          </a:prstGeom>
          <a:solidFill>
            <a:srgbClr val="24508C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37160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100" kern="0" dirty="0">
                <a:solidFill>
                  <a:srgbClr val="8FB6E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แบบสำรวจการเดินทางครัวเรือน · Home Interview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58368" y="1792224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ใช้งานแอปทีละขั้น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Step by Step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58368" y="3657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D7F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สำหรับน้อง ๆ ผู้สำรวจ  —  เข้าไปสัมภาษณ์ถึงบ้าน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4443984"/>
            <a:ext cx="2450592" cy="566928"/>
          </a:xfrm>
          <a:prstGeom prst="roundRect">
            <a:avLst>
              <a:gd name="adj" fmla="val 45161"/>
            </a:avLst>
          </a:prstGeom>
          <a:solidFill>
            <a:srgbClr val="1E3D6B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4572000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444398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E6F7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บ้าน 1 หลัง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10128" y="4443984"/>
            <a:ext cx="2450592" cy="566928"/>
          </a:xfrm>
          <a:prstGeom prst="roundRect">
            <a:avLst>
              <a:gd name="adj" fmla="val 45161"/>
            </a:avLst>
          </a:prstGeom>
          <a:solidFill>
            <a:srgbClr val="1E3D6B"/>
          </a:solidFill>
          <a:ln/>
        </p:spPr>
      </p:sp>
      <p:sp>
        <p:nvSpPr>
          <p:cNvPr id="12" name="Shape 10"/>
          <p:cNvSpPr/>
          <p:nvPr/>
        </p:nvSpPr>
        <p:spPr>
          <a:xfrm>
            <a:off x="3493008" y="4572000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493008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77056" y="444398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E6F7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สมาชิกทุกคน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61888" y="4443984"/>
            <a:ext cx="2450592" cy="566928"/>
          </a:xfrm>
          <a:prstGeom prst="roundRect">
            <a:avLst>
              <a:gd name="adj" fmla="val 45161"/>
            </a:avLst>
          </a:prstGeom>
          <a:solidFill>
            <a:srgbClr val="1E3D6B"/>
          </a:solidFill>
          <a:ln/>
        </p:spPr>
      </p:sp>
      <p:sp>
        <p:nvSpPr>
          <p:cNvPr id="16" name="Shape 14"/>
          <p:cNvSpPr/>
          <p:nvPr/>
        </p:nvSpPr>
        <p:spPr>
          <a:xfrm>
            <a:off x="6144768" y="4572000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144768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28816" y="444398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E6F7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การเดินทางทุกเที่ยว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13648" y="4443984"/>
            <a:ext cx="2450592" cy="566928"/>
          </a:xfrm>
          <a:prstGeom prst="roundRect">
            <a:avLst>
              <a:gd name="adj" fmla="val 45161"/>
            </a:avLst>
          </a:prstGeom>
          <a:solidFill>
            <a:srgbClr val="1E3D6B"/>
          </a:solidFill>
          <a:ln/>
        </p:spPr>
      </p:sp>
      <p:sp>
        <p:nvSpPr>
          <p:cNvPr id="20" name="Shape 18"/>
          <p:cNvSpPr/>
          <p:nvPr/>
        </p:nvSpPr>
        <p:spPr>
          <a:xfrm>
            <a:off x="8796528" y="4572000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8796528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80576" y="444398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E6F7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ตรวจสถานะ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" y="535838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296B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โครงการวางผังเมืองรวม อำเภอบ้านไผ่ จังหวัดขอนแก่น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68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Home Interview (ครัวเรือน) · บ้านไผ่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68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ภาพรวม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ภาพรวม — ข้อมูลซ้อนกัน 3 ชั้น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ต้องกรอกจากนอกเข้าใน: บ้าน → คน → การเดินทาง  ·  ทั้งหมด 39 ขั้น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Home Interview (ครัวเรือน) · บ้านไผ่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463040"/>
            <a:ext cx="3478682" cy="2432304"/>
          </a:xfrm>
          <a:prstGeom prst="roundRect">
            <a:avLst>
              <a:gd name="adj" fmla="val 4511"/>
            </a:avLst>
          </a:prstGeom>
          <a:solidFill>
            <a:srgbClr val="EFF6FF"/>
          </a:solidFill>
          <a:ln w="16510">
            <a:solidFill>
              <a:srgbClr val="BFDB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700784"/>
            <a:ext cx="1188720" cy="384048"/>
          </a:xfrm>
          <a:prstGeom prst="roundRect">
            <a:avLst>
              <a:gd name="adj" fmla="val 47619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7007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ส่วนที่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176272"/>
            <a:ext cx="29666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ข้อมูลบ้าน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2633472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ที่อยู่ · พิกัด GPS · จำนวนสมาชิก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ยานพาหนะ · รายได้ครัวเรือน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3401568"/>
            <a:ext cx="29666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กรอก 1 ครั้งต่อบ้าน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063898" y="24323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EC6E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356506" y="1463040"/>
            <a:ext cx="3478682" cy="2432304"/>
          </a:xfrm>
          <a:prstGeom prst="roundRect">
            <a:avLst>
              <a:gd name="adj" fmla="val 4511"/>
            </a:avLst>
          </a:prstGeom>
          <a:solidFill>
            <a:srgbClr val="EFF6FF"/>
          </a:solidFill>
          <a:ln w="1651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2538" y="1700784"/>
            <a:ext cx="1188720" cy="384048"/>
          </a:xfrm>
          <a:prstGeom prst="roundRect">
            <a:avLst>
              <a:gd name="adj" fmla="val 47619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4612538" y="17007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ส่วนที่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2538" y="2176272"/>
            <a:ext cx="29666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ข้อมูลบุคคล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12538" y="2633472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เพศ · อายุ · สถานะการทำงาน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อาชีพ · สถานที่ทำงาน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612538" y="3401568"/>
            <a:ext cx="29666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กรอกทุกคนที่เดินทาง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853477" y="24323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EC6E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146085" y="1463040"/>
            <a:ext cx="3478682" cy="2432304"/>
          </a:xfrm>
          <a:prstGeom prst="roundRect">
            <a:avLst>
              <a:gd name="adj" fmla="val 4511"/>
            </a:avLst>
          </a:prstGeom>
          <a:solidFill>
            <a:srgbClr val="EFF6FF"/>
          </a:solidFill>
          <a:ln w="16510">
            <a:solidFill>
              <a:srgbClr val="BFDB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02117" y="1700784"/>
            <a:ext cx="1188720" cy="384048"/>
          </a:xfrm>
          <a:prstGeom prst="roundRect">
            <a:avLst>
              <a:gd name="adj" fmla="val 47619"/>
            </a:avLst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8402117" y="17007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ส่วนที่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02117" y="2176272"/>
            <a:ext cx="29666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การเดินทาง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402117" y="2633472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ต้นทาง → ปลายทาง · เวลา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วัตถุประสงค์ · วิธีเดินทาง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402117" y="3401568"/>
            <a:ext cx="29666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กรอกทุกเที่ยวของแต่ละคน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4114800"/>
            <a:ext cx="11057839" cy="457200"/>
          </a:xfrm>
          <a:prstGeom prst="roundRect">
            <a:avLst>
              <a:gd name="adj" fmla="val 20000"/>
            </a:avLst>
          </a:prstGeom>
          <a:solidFill>
            <a:srgbClr val="23303A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1148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กฎทอง 3 ข้อ — จำแค่นี้พอ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66928" y="4718304"/>
            <a:ext cx="3503066" cy="1316736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" y="4901184"/>
            <a:ext cx="402336" cy="40233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901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53312" y="4882896"/>
            <a:ext cx="246065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กด GPS ที่หน้าบ้านจริง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2960" y="5394960"/>
            <a:ext cx="29910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อย่ากดตอนนั่งรออยู่ที่อื่น พิกัดจะผิดบ้าน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344314" y="4718304"/>
            <a:ext cx="3503066" cy="1316736"/>
          </a:xfrm>
          <a:prstGeom prst="roundRect">
            <a:avLst>
              <a:gd name="adj" fmla="val 8333"/>
            </a:avLst>
          </a:prstGeom>
          <a:solidFill>
            <a:srgbClr val="FEF2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00346" y="4901184"/>
            <a:ext cx="402336" cy="4023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7" name="Text 35"/>
          <p:cNvSpPr/>
          <p:nvPr/>
        </p:nvSpPr>
        <p:spPr>
          <a:xfrm>
            <a:off x="4600346" y="4901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30698" y="4882896"/>
            <a:ext cx="246065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ทุกเที่ยวต้องมีปลายทาง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600346" y="5394960"/>
            <a:ext cx="29910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ต้องมีชื่อสถานที่และหมุด ไม่งั้นใช้ไม่ได้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21701" y="4718304"/>
            <a:ext cx="3503066" cy="1316736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77733" y="4901184"/>
            <a:ext cx="402336" cy="40233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2" name="Text 40"/>
          <p:cNvSpPr/>
          <p:nvPr/>
        </p:nvSpPr>
        <p:spPr>
          <a:xfrm>
            <a:off x="8377733" y="4901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908085" y="4882896"/>
            <a:ext cx="246065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เที่ยวสุดท้ายต้องกลับบ้าน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377733" y="5394960"/>
            <a:ext cx="29910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คนที่ออกจากบ้านต้องมีอย่างน้อย 2 เที่ยว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5807" y="219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ขั้นที่ 1–3  จาก 39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เริ่มต้น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เปิดแอป แล้วบอกว่าคุณเป็นใคร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ทำครั้งเดียวตอนเริ่มงานแต่ละวัน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Home Interview (ครัวเรือน) · บ้านไผ่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private/tmp/claude-501/-Users-cmmcbook-Desktop-Claude/6b1a54c5-a76b-4b4e-bd2c-fa1a67fbbca8/scratchpad/ppt/shotsH/01-ro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09344"/>
            <a:ext cx="2002796" cy="43342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51798" y="3958216"/>
            <a:ext cx="1581695" cy="313258"/>
          </a:xfrm>
          <a:prstGeom prst="roundRect">
            <a:avLst>
              <a:gd name="adj" fmla="val 35028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87190" y="3811912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87190" y="3811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28092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เลือกบทบาทของตัวเอง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3228092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322809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93852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แตะปุ่มสีฟ้า “เข้าใช้งานเป็นผู้สำรวจ”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264668" y="3236976"/>
            <a:ext cx="23863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ปุ่มล่างที่มีรูปกุญแจเป็นของครูหรือพี่เลี้ยง — ไม่ต้องแตะ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228092" y="5248656"/>
            <a:ext cx="24229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74396" y="5248656"/>
            <a:ext cx="21302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0A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ไม่ต้องใช้รหัสผ่าน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72784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69380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1" descr="/private/tmp/claude-501/-Users-cmmcbook-Desktop-Claude/6b1a54c5-a76b-4b4e-bd2c-fa1a67fbbca8/scratchpad/ppt/shotsH/02-na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609344"/>
            <a:ext cx="2002796" cy="4334256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6608728" y="2086934"/>
            <a:ext cx="1879547" cy="251633"/>
          </a:xfrm>
          <a:prstGeom prst="roundRect">
            <a:avLst>
              <a:gd name="adj" fmla="val 43606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330444" y="1940630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330444" y="194063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7553637" y="2626068"/>
            <a:ext cx="934638" cy="246498"/>
          </a:xfrm>
          <a:prstGeom prst="roundRect">
            <a:avLst>
              <a:gd name="adj" fmla="val 44515"/>
            </a:avLst>
          </a:prstGeom>
          <a:solidFill>
            <a:srgbClr val="FFFFFF">
              <a:alpha val="0"/>
            </a:srgbClr>
          </a:solidFill>
          <a:ln w="28575">
            <a:solidFill>
              <a:srgbClr val="059669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330444" y="2479764"/>
            <a:ext cx="292608" cy="292608"/>
          </a:xfrm>
          <a:prstGeom prst="ellipse">
            <a:avLst/>
          </a:prstGeom>
          <a:solidFill>
            <a:srgbClr val="059669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330444" y="24797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8933948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พิมพ์ชื่อของตัวเอง</a:t>
            </a:r>
            <a:endParaRPr lang="en-US" sz="1550" dirty="0"/>
          </a:p>
        </p:txBody>
      </p:sp>
      <p:sp>
        <p:nvSpPr>
          <p:cNvPr id="32" name="Shape 28"/>
          <p:cNvSpPr/>
          <p:nvPr/>
        </p:nvSpPr>
        <p:spPr>
          <a:xfrm>
            <a:off x="8933948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3" name="Text 29"/>
          <p:cNvSpPr/>
          <p:nvPr/>
        </p:nvSpPr>
        <p:spPr>
          <a:xfrm>
            <a:off x="8933948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9299708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พิมพ์ ชื่อ และ นามสกุล — ไม่ต้องใส่คำนำหน้า</a:t>
            </a:r>
            <a:endParaRPr lang="en-US" sz="1250" dirty="0"/>
          </a:p>
        </p:txBody>
      </p:sp>
      <p:sp>
        <p:nvSpPr>
          <p:cNvPr id="35" name="Shape 31"/>
          <p:cNvSpPr/>
          <p:nvPr/>
        </p:nvSpPr>
        <p:spPr>
          <a:xfrm>
            <a:off x="8933948" y="3209544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6" name="Text 32"/>
          <p:cNvSpPr/>
          <p:nvPr/>
        </p:nvSpPr>
        <p:spPr>
          <a:xfrm>
            <a:off x="8933948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9299708" y="3182112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แตะปุ่ม “เข้าใช้งาน”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8970524" y="4096512"/>
            <a:ext cx="23863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สะกดให้เหมือนเดิมทุกครั้ง เว้นวรรคเท่าเดิม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8933948" y="5248656"/>
            <a:ext cx="24229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9080252" y="5248656"/>
            <a:ext cx="21302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0A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พิมพ์ไม่ตรง = บ้านที่เคยเก็บจะไม่ขึ้นมาให้เห็น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5807" y="219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ขั้นที่ 4–7  จาก 39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ส่วนที่ 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เริ่มบ้านหลังใหม่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หนึ่งบ้าน = หนึ่งครัวเรือน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Home Interview (ครัวเรือน) · บ้านไผ่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private/tmp/claude-501/-Users-cmmcbook-Desktop-Claude/6b1a54c5-a76b-4b4e-bd2c-fa1a67fbbca8/scratchpad/ppt/shotsH/03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09344"/>
            <a:ext cx="2002796" cy="43342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92602" y="3546263"/>
            <a:ext cx="693998" cy="236227"/>
          </a:xfrm>
          <a:prstGeom prst="roundRect">
            <a:avLst>
              <a:gd name="adj" fmla="val 46450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40295" y="3399959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40295" y="339995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28092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หน้ารายการครัวเรือน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3228092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322809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93852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 “+ เพิ่มครัวเรือน”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264668" y="3236976"/>
            <a:ext cx="23863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บ้านที่เคยเก็บไว้แล้วจะอยู่ในรายการด้านล่าง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แตะบ้านเดิมเพื่อกลับไปกรอกต่อได้ทุกเมื่อ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72784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69380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1" descr="/private/tmp/claude-501/-Users-cmmcbook-Desktop-Claude/6b1a54c5-a76b-4b4e-bd2c-fa1a67fbbca8/scratchpad/ppt/shotsH/04-hh-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609344"/>
            <a:ext cx="2002796" cy="4334256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608728" y="2320032"/>
            <a:ext cx="1879547" cy="251633"/>
          </a:xfrm>
          <a:prstGeom prst="roundRect">
            <a:avLst>
              <a:gd name="adj" fmla="val 43606"/>
            </a:avLst>
          </a:prstGeom>
          <a:solidFill>
            <a:srgbClr val="FFFFFF">
              <a:alpha val="0"/>
            </a:srgbClr>
          </a:solidFill>
          <a:ln w="28575">
            <a:solidFill>
              <a:srgbClr val="6B728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330444" y="2173728"/>
            <a:ext cx="292608" cy="292608"/>
          </a:xfrm>
          <a:prstGeom prst="ellipse">
            <a:avLst/>
          </a:prstGeom>
          <a:solidFill>
            <a:srgbClr val="6B7280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330444" y="2173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608728" y="2912606"/>
            <a:ext cx="1879547" cy="261904"/>
          </a:xfrm>
          <a:prstGeom prst="roundRect">
            <a:avLst>
              <a:gd name="adj" fmla="val 41896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330444" y="2766302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330444" y="276630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608728" y="3409694"/>
            <a:ext cx="1879547" cy="261904"/>
          </a:xfrm>
          <a:prstGeom prst="roundRect">
            <a:avLst>
              <a:gd name="adj" fmla="val 41896"/>
            </a:avLst>
          </a:prstGeom>
          <a:solidFill>
            <a:srgbClr val="FFFFFF">
              <a:alpha val="0"/>
            </a:srgbClr>
          </a:solidFill>
          <a:ln w="28575">
            <a:solidFill>
              <a:srgbClr val="059669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330444" y="3263390"/>
            <a:ext cx="292608" cy="292608"/>
          </a:xfrm>
          <a:prstGeom prst="ellipse">
            <a:avLst/>
          </a:prstGeom>
          <a:solidFill>
            <a:srgbClr val="059669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330444" y="326339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8933948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หัวฟอร์ม — ใครเก็บ เก็บของวันไหน</a:t>
            </a:r>
            <a:endParaRPr lang="en-US" sz="1550" dirty="0"/>
          </a:p>
        </p:txBody>
      </p:sp>
      <p:sp>
        <p:nvSpPr>
          <p:cNvPr id="33" name="Shape 29"/>
          <p:cNvSpPr/>
          <p:nvPr/>
        </p:nvSpPr>
        <p:spPr>
          <a:xfrm>
            <a:off x="8933948" y="2350008"/>
            <a:ext cx="274320" cy="2743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4" name="Text 30"/>
          <p:cNvSpPr/>
          <p:nvPr/>
        </p:nvSpPr>
        <p:spPr>
          <a:xfrm>
            <a:off x="8933948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9299708" y="2322576"/>
            <a:ext cx="2057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ชื่อผู้สำรวจ — ระบบใส่ให้เอง แก้ไม่ได้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8933948" y="3044952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7" name="Text 33"/>
          <p:cNvSpPr/>
          <p:nvPr/>
        </p:nvSpPr>
        <p:spPr>
          <a:xfrm>
            <a:off x="8933948" y="3044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6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9299708" y="3017520"/>
            <a:ext cx="2057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เลือกชื่อผู้ควบคุมของทีมตัวเอง</a:t>
            </a:r>
            <a:endParaRPr lang="en-US" sz="1250" dirty="0"/>
          </a:p>
        </p:txBody>
      </p:sp>
      <p:sp>
        <p:nvSpPr>
          <p:cNvPr id="39" name="Shape 35"/>
          <p:cNvSpPr/>
          <p:nvPr/>
        </p:nvSpPr>
        <p:spPr>
          <a:xfrm>
            <a:off x="8933948" y="3739896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0" name="Text 36"/>
          <p:cNvSpPr/>
          <p:nvPr/>
        </p:nvSpPr>
        <p:spPr>
          <a:xfrm>
            <a:off x="8933948" y="3739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7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9299708" y="3712464"/>
            <a:ext cx="2057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วันที่เดินทาง = วันศุกร์ที่ผ่านมา (ระบบใส่ให้)</a:t>
            </a:r>
            <a:endParaRPr lang="en-US" sz="1250" dirty="0"/>
          </a:p>
        </p:txBody>
      </p:sp>
      <p:sp>
        <p:nvSpPr>
          <p:cNvPr id="42" name="Shape 38"/>
          <p:cNvSpPr/>
          <p:nvPr/>
        </p:nvSpPr>
        <p:spPr>
          <a:xfrm>
            <a:off x="8933948" y="5248656"/>
            <a:ext cx="24229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9080252" y="5248656"/>
            <a:ext cx="21302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0A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ถามข้อมูลของ “วันศุกร์ที่แล้ว” เสมอ ไม่ใช่วันนี้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5807" y="219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ขั้นที่ 8–10  จาก 39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ส่วนที่ 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พิกัดบ้าน และที่อยู่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พิกัดคือข้อมูลที่สำคัญที่สุดของบ้านหลังนี้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Home Interview (ครัวเรือน) · บ้านไผ่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private/tmp/claude-501/-Users-cmmcbook-Desktop-Claude/6b1a54c5-a76b-4b4e-bd2c-fa1a67fbbca8/scratchpad/ppt/shotsH/05-hh-g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09344"/>
            <a:ext cx="2002796" cy="43342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990930" y="3653063"/>
            <a:ext cx="392134" cy="251633"/>
          </a:xfrm>
          <a:prstGeom prst="roundRect">
            <a:avLst>
              <a:gd name="adj" fmla="val 43606"/>
            </a:avLst>
          </a:prstGeom>
          <a:solidFill>
            <a:srgbClr val="FFFFFF">
              <a:alpha val="0"/>
            </a:srgbClr>
          </a:solidFill>
          <a:ln w="28575">
            <a:solidFill>
              <a:srgbClr val="05966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36760" y="3506759"/>
            <a:ext cx="292608" cy="292608"/>
          </a:xfrm>
          <a:prstGeom prst="ellipse">
            <a:avLst/>
          </a:prstGeom>
          <a:solidFill>
            <a:srgbClr val="059669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36760" y="350675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8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02872" y="3653063"/>
            <a:ext cx="1098328" cy="251633"/>
          </a:xfrm>
          <a:prstGeom prst="roundRect">
            <a:avLst>
              <a:gd name="adj" fmla="val 43606"/>
            </a:avLst>
          </a:prstGeom>
          <a:solidFill>
            <a:srgbClr val="FFFFFF">
              <a:alpha val="0"/>
            </a:srgbClr>
          </a:solidFill>
          <a:ln w="28575">
            <a:solidFill>
              <a:srgbClr val="1D4E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854897" y="3506759"/>
            <a:ext cx="292608" cy="292608"/>
          </a:xfrm>
          <a:prstGeom prst="ellipse">
            <a:avLst/>
          </a:prstGeom>
          <a:solidFill>
            <a:srgbClr val="1D4ED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854897" y="350675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9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28092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กด GPS ตอนยืนอยู่หน้าบ้านจริง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3228092" y="2350008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7"/>
          <p:cNvSpPr/>
          <p:nvPr/>
        </p:nvSpPr>
        <p:spPr>
          <a:xfrm>
            <a:off x="322809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8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593852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แตะปุ่มเขียว “📍 GPS” ขณะยืนอยู่ที่บ้านหลังนั้น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228092" y="3209544"/>
            <a:ext cx="274320" cy="2743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3" name="Text 20"/>
          <p:cNvSpPr/>
          <p:nvPr/>
        </p:nvSpPr>
        <p:spPr>
          <a:xfrm>
            <a:off x="3228092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9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593852" y="3182112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ตัวเลขพิกัดจะขึ้นในช่องนี้เอง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3264668" y="4096512"/>
            <a:ext cx="23863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ถ้าเครื่องไม่มี GPS ให้แตะ “🗺 สำรอง” แล้วปักหมุดบนแผนที่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3228092" y="5248656"/>
            <a:ext cx="24229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74396" y="5248656"/>
            <a:ext cx="21302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0A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อย่ากด GPS ตอนนั่งพักอยู่ที่อื่น พิกัดจะผิดบ้าน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272784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69380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30" name="Image 1" descr="/private/tmp/claude-501/-Users-cmmcbook-Desktop-Claude/6b1a54c5-a76b-4b4e-bd2c-fa1a67fbbca8/scratchpad/ppt/shotsH/06-hh-add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609344"/>
            <a:ext cx="2002796" cy="4334256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6608728" y="3649933"/>
            <a:ext cx="1879547" cy="251633"/>
          </a:xfrm>
          <a:prstGeom prst="roundRect">
            <a:avLst>
              <a:gd name="adj" fmla="val 43606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330444" y="3503629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330444" y="350362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10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8933948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กรอกที่อยู่</a:t>
            </a:r>
            <a:endParaRPr lang="en-US" sz="1550" dirty="0"/>
          </a:p>
        </p:txBody>
      </p:sp>
      <p:sp>
        <p:nvSpPr>
          <p:cNvPr id="35" name="Shape 31"/>
          <p:cNvSpPr/>
          <p:nvPr/>
        </p:nvSpPr>
        <p:spPr>
          <a:xfrm>
            <a:off x="8933948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2"/>
          <p:cNvSpPr/>
          <p:nvPr/>
        </p:nvSpPr>
        <p:spPr>
          <a:xfrm>
            <a:off x="8933948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10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9299708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กรอกบ้านเลขที่ แล้วเลื่อนลงกรอก หมู่ / ซอย / ถนน / ตำบล / อำเภอ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8970524" y="3236976"/>
            <a:ext cx="23863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ช่องที่มีดอกจัน * คือช่องบังคับ ต้องกรอก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เลื่อนลงต่อจะเจอ “ประเภทที่อยู่อาศัย” ให้เลือกด้วย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5807" y="219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ขั้นที่ 11–12  จาก 39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ส่วนที่ 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จำนวนสมาชิก และยานพาหนะ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ตารางจำนวนสมาชิกเป็นตัวกำหนดว่าจะกรอกคนได้กี่คน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Home Interview (ครัวเรือน) · บ้านไผ่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private/tmp/claude-501/-Users-cmmcbook-Desktop-Claude/6b1a54c5-a76b-4b4e-bd2c-fa1a67fbbca8/scratchpad/ppt/shotsH/07-hh-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09344"/>
            <a:ext cx="2002796" cy="43342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02872" y="3371419"/>
            <a:ext cx="1879547" cy="2345582"/>
          </a:xfrm>
          <a:prstGeom prst="roundRect">
            <a:avLst>
              <a:gd name="adj" fmla="val 5838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4588" y="3225115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24588" y="322511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28092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ตารางจำนวนสมาชิกในบ้าน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3228092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322809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11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93852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ใส่จำนวนคนในแต่ละช่อง แยกชาย/หญิง และแยกตามสถานะ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264668" y="3236976"/>
            <a:ext cx="23863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ช่องไหนไม่มีคน ปล่อยว่างไว้ได้เลย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เด็กอายุต่ำกว่า 6 ปี นับในตารางแต่ไม่ต้องสัมภาษณ์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228092" y="5248656"/>
            <a:ext cx="24229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74396" y="5248656"/>
            <a:ext cx="21302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0A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ใส่ผิด = เพิ่มสมาชิกได้ไม่ครบ ต้องกลับมาแก้ตารางนี้ก่อน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72784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69380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1" descr="/private/tmp/claude-501/-Users-cmmcbook-Desktop-Claude/6b1a54c5-a76b-4b4e-bd2c-fa1a67fbbca8/scratchpad/ppt/shotsH/08-hh-vehi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609344"/>
            <a:ext cx="2002796" cy="4334256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6608728" y="5260916"/>
            <a:ext cx="1879547" cy="248504"/>
          </a:xfrm>
          <a:prstGeom prst="roundRect">
            <a:avLst>
              <a:gd name="adj" fmla="val 44155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330444" y="5114612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330444" y="51146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12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8933948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บ้านนี้มียานพาหนะไหม?</a:t>
            </a:r>
            <a:endParaRPr lang="en-US" sz="1550" dirty="0"/>
          </a:p>
        </p:txBody>
      </p:sp>
      <p:sp>
        <p:nvSpPr>
          <p:cNvPr id="29" name="Shape 25"/>
          <p:cNvSpPr/>
          <p:nvPr/>
        </p:nvSpPr>
        <p:spPr>
          <a:xfrm>
            <a:off x="8933948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8933948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12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9299708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 “มียานพาหนะ” หรือ “ไม่มียานพาหนะ”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8970524" y="3236976"/>
            <a:ext cx="23863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ถ้าตอบว่ามี จะมีตารางให้ใส่จำนวนรถแต่ละชนิด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แยกเป็น ของส่วนตัว / ของบริษัท / ของราชการ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5807" y="219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ขั้นที่ 13–15  จาก 39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ส่วนที่ 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รายได้ครัวเรือน แล้วบันทึก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จบส่วนที่ 1 — ข้อมูลบ้าน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Home Interview (ครัวเรือน) · บ้านไผ่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private/tmp/claude-501/-Users-cmmcbook-Desktop-Claude/6b1a54c5-a76b-4b4e-bd2c-fa1a67fbbca8/scratchpad/ppt/shotsH/09-hh-in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09344"/>
            <a:ext cx="2002796" cy="43342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02872" y="4845994"/>
            <a:ext cx="1879547" cy="251633"/>
          </a:xfrm>
          <a:prstGeom prst="roundRect">
            <a:avLst>
              <a:gd name="adj" fmla="val 43606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4588" y="4699690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24588" y="469969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847781" y="5668617"/>
            <a:ext cx="934638" cy="246498"/>
          </a:xfrm>
          <a:prstGeom prst="roundRect">
            <a:avLst>
              <a:gd name="adj" fmla="val 44515"/>
            </a:avLst>
          </a:prstGeom>
          <a:solidFill>
            <a:srgbClr val="FFFFFF">
              <a:alpha val="0"/>
            </a:srgbClr>
          </a:solidFill>
          <a:ln w="28575">
            <a:solidFill>
              <a:srgbClr val="05966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24588" y="5522313"/>
            <a:ext cx="292608" cy="292608"/>
          </a:xfrm>
          <a:prstGeom prst="ellipse">
            <a:avLst/>
          </a:prstGeom>
          <a:solidFill>
            <a:srgbClr val="059669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24588" y="552231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28092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ใส่รายได้รวมทั้งครัวเรือนต่อเดือน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3228092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7"/>
          <p:cNvSpPr/>
          <p:nvPr/>
        </p:nvSpPr>
        <p:spPr>
          <a:xfrm>
            <a:off x="322809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13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593852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ใส่รายได้รวมของทุกคนในบ้าน (บาท/เดือน)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228092" y="3209544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3" name="Text 20"/>
          <p:cNvSpPr/>
          <p:nvPr/>
        </p:nvSpPr>
        <p:spPr>
          <a:xfrm>
            <a:off x="3228092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14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593852" y="3182112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 “บันทึก”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3264668" y="4096512"/>
            <a:ext cx="238632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ถามแบบสุภาพ ว่า “รวมทั้งบ้านประมาณเดือนละเท่าไหร่”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272784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9380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28" name="Image 1" descr="/private/tmp/claude-501/-Users-cmmcbook-Desktop-Claude/6b1a54c5-a76b-4b4e-bd2c-fa1a67fbbca8/scratchpad/ppt/shotsH/10-hh-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609344"/>
            <a:ext cx="2002796" cy="4334256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948018" y="3680906"/>
            <a:ext cx="550528" cy="190009"/>
          </a:xfrm>
          <a:prstGeom prst="roundRect">
            <a:avLst>
              <a:gd name="adj" fmla="val 57749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330444" y="3534602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330444" y="353460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15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8933948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เข้าสู่หน้าบ้าน — เริ่มกรอกคน</a:t>
            </a:r>
            <a:endParaRPr lang="en-US" sz="1550" dirty="0"/>
          </a:p>
        </p:txBody>
      </p:sp>
      <p:sp>
        <p:nvSpPr>
          <p:cNvPr id="33" name="Shape 29"/>
          <p:cNvSpPr/>
          <p:nvPr/>
        </p:nvSpPr>
        <p:spPr>
          <a:xfrm>
            <a:off x="8933948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8933948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15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9299708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 “+ เพิ่มสมาชิก” เพื่อเริ่มส่วนที่ 2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8970524" y="3236976"/>
            <a:ext cx="23863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หน้านี้จะสรุปข้อมูลบ้านทั้งหมดไว้ให้ดู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แถบเตือนด้านบนจะบอกว่ายังขาดอะไร</a:t>
            </a:r>
            <a:endParaRPr lang="en-US" sz="1150" dirty="0"/>
          </a:p>
        </p:txBody>
      </p:sp>
      <p:sp>
        <p:nvSpPr>
          <p:cNvPr id="37" name="Shape 33"/>
          <p:cNvSpPr/>
          <p:nvPr/>
        </p:nvSpPr>
        <p:spPr>
          <a:xfrm>
            <a:off x="8933948" y="5248656"/>
            <a:ext cx="24229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080252" y="5248656"/>
            <a:ext cx="21302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0A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บ้านที่ยังไม่มีสมาชิกเลย จะขึ้นเตือนสีแดง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5807" y="219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ขั้นที่ 16–18  จาก 39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ส่วนที่ 2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ส่วนที่ 2 — ข้อมูลบุคคล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กรอกทีละคน คนที่ไม่ได้เดินทางก็ต้องกรอก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Home Interview (ครัวเรือน) · บ้านไผ่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private/tmp/claude-501/-Users-cmmcbook-Desktop-Claude/6b1a54c5-a76b-4b4e-bd2c-fa1a67fbbca8/scratchpad/ppt/shotsH/11-member-inf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09344"/>
            <a:ext cx="2002796" cy="43342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20986" y="3689010"/>
            <a:ext cx="1643320" cy="248504"/>
          </a:xfrm>
          <a:prstGeom prst="roundRect">
            <a:avLst>
              <a:gd name="adj" fmla="val 44155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18002" y="3542706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18002" y="354270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16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020986" y="5002543"/>
            <a:ext cx="1643320" cy="251633"/>
          </a:xfrm>
          <a:prstGeom prst="roundRect">
            <a:avLst>
              <a:gd name="adj" fmla="val 43606"/>
            </a:avLst>
          </a:prstGeom>
          <a:solidFill>
            <a:srgbClr val="FFFFFF">
              <a:alpha val="0"/>
            </a:srgbClr>
          </a:solidFill>
          <a:ln w="28575">
            <a:solidFill>
              <a:srgbClr val="1D4E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18002" y="4856239"/>
            <a:ext cx="292608" cy="292608"/>
          </a:xfrm>
          <a:prstGeom prst="ellipse">
            <a:avLst/>
          </a:prstGeom>
          <a:solidFill>
            <a:srgbClr val="1D4ED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18002" y="485623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17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28092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เพศ และสถานะการทำงาน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3228092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7"/>
          <p:cNvSpPr/>
          <p:nvPr/>
        </p:nvSpPr>
        <p:spPr>
          <a:xfrm>
            <a:off x="322809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16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593852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แตะเลือกเพศ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228092" y="3209544"/>
            <a:ext cx="274320" cy="2743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3" name="Text 20"/>
          <p:cNvSpPr/>
          <p:nvPr/>
        </p:nvSpPr>
        <p:spPr>
          <a:xfrm>
            <a:off x="3228092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17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593852" y="3182112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เลือกสถานะการทำงาน (ทำงาน / เรียน / ไม่ทำงาน ฯลฯ)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3264668" y="4096512"/>
            <a:ext cx="238632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จำนวนคนแต่ละเพศจะเกินที่ใส่ในตารางส่วนที่ 1 ไม่ได้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272784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9380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28" name="Image 1" descr="/private/tmp/claude-501/-Users-cmmcbook-Desktop-Claude/6b1a54c5-a76b-4b4e-bd2c-fa1a67fbbca8/scratchpad/ppt/shotsH/12-member-fill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609344"/>
            <a:ext cx="2002796" cy="4334256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6711436" y="3622411"/>
            <a:ext cx="1674132" cy="1735757"/>
          </a:xfrm>
          <a:prstGeom prst="roundRect">
            <a:avLst>
              <a:gd name="adj" fmla="val 6554"/>
            </a:avLst>
          </a:prstGeom>
          <a:solidFill>
            <a:srgbClr val="FFFFFF">
              <a:alpha val="0"/>
            </a:srgbClr>
          </a:solidFill>
          <a:ln w="28575">
            <a:solidFill>
              <a:srgbClr val="059669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239264" y="3476107"/>
            <a:ext cx="292608" cy="292608"/>
          </a:xfrm>
          <a:prstGeom prst="ellipse">
            <a:avLst/>
          </a:prstGeom>
          <a:solidFill>
            <a:srgbClr val="059669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239264" y="347610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18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8933948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กรอกที่เหลือแล้วบันทึก</a:t>
            </a:r>
            <a:endParaRPr lang="en-US" sz="1550" dirty="0"/>
          </a:p>
        </p:txBody>
      </p:sp>
      <p:sp>
        <p:nvSpPr>
          <p:cNvPr id="33" name="Shape 29"/>
          <p:cNvSpPr/>
          <p:nvPr/>
        </p:nvSpPr>
        <p:spPr>
          <a:xfrm>
            <a:off x="8933948" y="2350008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4" name="Text 30"/>
          <p:cNvSpPr/>
          <p:nvPr/>
        </p:nvSpPr>
        <p:spPr>
          <a:xfrm>
            <a:off x="8933948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18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9299708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กรอกอายุ · อาชีพ · การศึกษา · รายได้ แล้วเลื่อนลงสุด แตะ “บันทึก → ไปส่วนที่ 3”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8970524" y="3236976"/>
            <a:ext cx="23863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ถ้าเขาไม่อยากบอกรายได้ ให้ติ๊ก “ไม่ระบุ”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ถ้าทำงาน ควรใส่พิกัดที่ทำงานด้วย</a:t>
            </a:r>
            <a:endParaRPr lang="en-US" sz="1150" dirty="0"/>
          </a:p>
        </p:txBody>
      </p:sp>
      <p:sp>
        <p:nvSpPr>
          <p:cNvPr id="37" name="Shape 33"/>
          <p:cNvSpPr/>
          <p:nvPr/>
        </p:nvSpPr>
        <p:spPr>
          <a:xfrm>
            <a:off x="8933948" y="5248656"/>
            <a:ext cx="24229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080252" y="5248656"/>
            <a:ext cx="21302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0A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ยังไม่บันทึกส่วนที่ 2 จะเข้าส่วนที่ 3 ไม่ได้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5807" y="219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ขั้นที่ 19–21  จาก 39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ส่วนที่ 3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ส่วนที่ 3 — การเดินทาง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ถามว่า “เมื่อวันศุกร์ที่แล้ว ออกจากบ้านไปไหนบ้าง”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Home Interview (ครัวเรือน) · บ้านไผ่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private/tmp/claude-501/-Users-cmmcbook-Desktop-Claude/6b1a54c5-a76b-4b4e-bd2c-fa1a67fbbca8/scratchpad/ppt/shotsH/13-trips-t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09344"/>
            <a:ext cx="2002796" cy="43342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92602" y="3455832"/>
            <a:ext cx="773917" cy="236227"/>
          </a:xfrm>
          <a:prstGeom prst="roundRect">
            <a:avLst>
              <a:gd name="adj" fmla="val 46450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20215" y="3309528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20215" y="3309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19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28092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เปิดแท็บการเดินทาง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3228092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322809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19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93852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 “+ เพิ่มการเดินทาง”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264668" y="3236976"/>
            <a:ext cx="23863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ถ้าคนนี้ไม่ได้ออกจากบ้านเลย ไม่ต้องเพิ่มเที่ยว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แต่ต้องมีอย่างน้อย 1 คนในบ้านที่เดินทาง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72784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69380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1" descr="/private/tmp/claude-501/-Users-cmmcbook-Desktop-Claude/6b1a54c5-a76b-4b4e-bd2c-fa1a67fbbca8/scratchpad/ppt/shotsH/14-trip-orig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609344"/>
            <a:ext cx="2002796" cy="4334256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608728" y="2359028"/>
            <a:ext cx="1435979" cy="251633"/>
          </a:xfrm>
          <a:prstGeom prst="roundRect">
            <a:avLst>
              <a:gd name="adj" fmla="val 43606"/>
            </a:avLst>
          </a:prstGeom>
          <a:solidFill>
            <a:srgbClr val="FFFFFF">
              <a:alpha val="0"/>
            </a:srgbClr>
          </a:solidFill>
          <a:ln w="28575">
            <a:solidFill>
              <a:srgbClr val="059669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98404" y="2212724"/>
            <a:ext cx="292608" cy="292608"/>
          </a:xfrm>
          <a:prstGeom prst="ellipse">
            <a:avLst/>
          </a:prstGeom>
          <a:solidFill>
            <a:srgbClr val="059669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898404" y="22127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20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608728" y="3366525"/>
            <a:ext cx="1879547" cy="261904"/>
          </a:xfrm>
          <a:prstGeom prst="roundRect">
            <a:avLst>
              <a:gd name="adj" fmla="val 41896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330444" y="3220221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330444" y="322022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21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8933948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ต้นทางเที่ยวแรก = บ้าน (ระบบใส่ให้)</a:t>
            </a:r>
            <a:endParaRPr lang="en-US" sz="1550" dirty="0"/>
          </a:p>
        </p:txBody>
      </p:sp>
      <p:sp>
        <p:nvSpPr>
          <p:cNvPr id="30" name="Shape 26"/>
          <p:cNvSpPr/>
          <p:nvPr/>
        </p:nvSpPr>
        <p:spPr>
          <a:xfrm>
            <a:off x="8933948" y="2350008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1" name="Text 27"/>
          <p:cNvSpPr/>
          <p:nvPr/>
        </p:nvSpPr>
        <p:spPr>
          <a:xfrm>
            <a:off x="8933948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20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9299708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ต้นทางถูกเติมเป็นบ้านให้อัตโนมัติ ไม่ต้องแก้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8933948" y="3209544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8933948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21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9299708" y="3182112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ใส่เวลาที่ออกจากบ้าน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8970524" y="4096512"/>
            <a:ext cx="238632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เที่ยวถัดไป ต้นทางจะเป็นปลายทางของเที่ยวก่อนหน้าเอง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5807" y="219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ขั้นที่ 22–24  จาก 39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ส่วนที่ 3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ปลายทาง — เขาไปไหน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ตรงนี้สำคัญที่สุดของทั้งแบบสอบถาม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Home Interview (ครัวเรือน) · บ้านไผ่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private/tmp/claude-501/-Users-cmmcbook-Desktop-Claude/6b1a54c5-a76b-4b4e-bd2c-fa1a67fbbca8/scratchpad/ppt/shotsH/15-trip-d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09344"/>
            <a:ext cx="2002796" cy="43342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02872" y="3652982"/>
            <a:ext cx="1435979" cy="251633"/>
          </a:xfrm>
          <a:prstGeom prst="roundRect">
            <a:avLst>
              <a:gd name="adj" fmla="val 43606"/>
            </a:avLst>
          </a:prstGeom>
          <a:solidFill>
            <a:srgbClr val="FFFFFF">
              <a:alpha val="0"/>
            </a:srgbClr>
          </a:solidFill>
          <a:ln w="28575">
            <a:solidFill>
              <a:srgbClr val="6B728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92548" y="3506678"/>
            <a:ext cx="292608" cy="292608"/>
          </a:xfrm>
          <a:prstGeom prst="ellipse">
            <a:avLst/>
          </a:prstGeom>
          <a:solidFill>
            <a:srgbClr val="6B7280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92548" y="350667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338852" y="3652982"/>
            <a:ext cx="443568" cy="251633"/>
          </a:xfrm>
          <a:prstGeom prst="roundRect">
            <a:avLst>
              <a:gd name="adj" fmla="val 43606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24588" y="3506678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24588" y="350667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28092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ช่องปลายทาง และปุ่มแผนที่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3228092" y="2350008"/>
            <a:ext cx="274320" cy="2743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7"/>
          <p:cNvSpPr/>
          <p:nvPr/>
        </p:nvSpPr>
        <p:spPr>
          <a:xfrm>
            <a:off x="322809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22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593852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ช่องนี้คือชื่อสถานที่ปลายทาง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228092" y="3209544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3228092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23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593852" y="3182112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แตะปุ่ม “🗺 แผนที่” เพื่อค้นหาและปักหมุด ← ใช้อันนี้เป็นหลัก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3228092" y="5248656"/>
            <a:ext cx="24229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374396" y="5248656"/>
            <a:ext cx="21302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0A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หน้าถัดไปคือวิธีหาสถานที่ — ตั้งใจดูให้ดี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272784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69380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29" name="Image 1" descr="/private/tmp/claude-501/-Users-cmmcbook-Desktop-Claude/6b1a54c5-a76b-4b4e-bd2c-fa1a67fbbca8/scratchpad/ppt/shotsH/16-map-o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609344"/>
            <a:ext cx="2002796" cy="4334256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6608728" y="1922602"/>
            <a:ext cx="1521595" cy="251633"/>
          </a:xfrm>
          <a:prstGeom prst="roundRect">
            <a:avLst>
              <a:gd name="adj" fmla="val 43606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984020" y="1776298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984020" y="177629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24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8933948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หน้าค้นหาสถานที่</a:t>
            </a:r>
            <a:endParaRPr lang="en-US" sz="1550" dirty="0"/>
          </a:p>
        </p:txBody>
      </p:sp>
      <p:sp>
        <p:nvSpPr>
          <p:cNvPr id="34" name="Shape 30"/>
          <p:cNvSpPr/>
          <p:nvPr/>
        </p:nvSpPr>
        <p:spPr>
          <a:xfrm>
            <a:off x="8933948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5" name="Text 31"/>
          <p:cNvSpPr/>
          <p:nvPr/>
        </p:nvSpPr>
        <p:spPr>
          <a:xfrm>
            <a:off x="8933948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24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9299708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พิมพ์ชื่อสถานที่ในช่องบนสุด สั้น ๆ</a:t>
            </a:r>
            <a:endParaRPr lang="en-US" sz="1250" dirty="0"/>
          </a:p>
        </p:txBody>
      </p:sp>
      <p:sp>
        <p:nvSpPr>
          <p:cNvPr id="37" name="Text 33"/>
          <p:cNvSpPr/>
          <p:nvPr/>
        </p:nvSpPr>
        <p:spPr>
          <a:xfrm>
            <a:off x="8970524" y="3236976"/>
            <a:ext cx="23863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เช่น “โรงเรียน”, “ตลาด”, “โรงพยาบาล”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หาสถานที่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หาสถานที่ยังไงให้เจอ — ค้นทีละชั้น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อย่าข้ามชั้น! เริ่มจากชั้น 1 เสมอ เพราะเร็วที่สุดและแม่นที่สุด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Home Interview (ครัวเรือน) · บ้านไผ่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499616"/>
            <a:ext cx="3478682" cy="2487168"/>
          </a:xfrm>
          <a:prstGeom prst="roundRect">
            <a:avLst>
              <a:gd name="adj" fmla="val 4412"/>
            </a:avLst>
          </a:prstGeom>
          <a:solidFill>
            <a:srgbClr val="ECFDF5"/>
          </a:solidFill>
          <a:ln w="16510">
            <a:solidFill>
              <a:srgbClr val="0596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755648"/>
            <a:ext cx="1133856" cy="384048"/>
          </a:xfrm>
          <a:prstGeom prst="roundRect">
            <a:avLst>
              <a:gd name="adj" fmla="val 47619"/>
            </a:avLst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755648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ชั้นที่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31136"/>
            <a:ext cx="29666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พิมพ์แล้วรอ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2688336"/>
            <a:ext cx="296661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ค้นจากสถานที่ในเครื่อง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(บ้านไผ่และใกล้เคียง 2,000 กว่าแห่ง)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3438144"/>
            <a:ext cx="2966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เร็วที่สุด · ไม่ต้องใช้เน็ต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063898" y="2468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CDD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356506" y="1499616"/>
            <a:ext cx="3478682" cy="2487168"/>
          </a:xfrm>
          <a:prstGeom prst="roundRect">
            <a:avLst>
              <a:gd name="adj" fmla="val 4412"/>
            </a:avLst>
          </a:prstGeom>
          <a:solidFill>
            <a:srgbClr val="EFF6FF"/>
          </a:solidFill>
          <a:ln w="16510">
            <a:solidFill>
              <a:srgbClr val="1D4E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2538" y="1755648"/>
            <a:ext cx="1133856" cy="384048"/>
          </a:xfrm>
          <a:prstGeom prst="roundRect">
            <a:avLst>
              <a:gd name="adj" fmla="val 47619"/>
            </a:avLst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4612538" y="1755648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ชั้นที่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2538" y="2231136"/>
            <a:ext cx="29666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แตะปุ่ม “ค้นหา”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612538" y="2688336"/>
            <a:ext cx="296661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ค้นเพิ่มจากแผนที่ Longdo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612538" y="3438144"/>
            <a:ext cx="2966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ใช้เมื่อชั้น 1 ไม่เจอ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853477" y="2468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CDD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146085" y="1499616"/>
            <a:ext cx="3478682" cy="2487168"/>
          </a:xfrm>
          <a:prstGeom prst="roundRect">
            <a:avLst>
              <a:gd name="adj" fmla="val 4412"/>
            </a:avLst>
          </a:prstGeom>
          <a:solidFill>
            <a:srgbClr val="F5F0FE"/>
          </a:solidFill>
          <a:ln w="16510">
            <a:solidFill>
              <a:srgbClr val="7E22C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02117" y="1755648"/>
            <a:ext cx="1133856" cy="384048"/>
          </a:xfrm>
          <a:prstGeom prst="roundRect">
            <a:avLst>
              <a:gd name="adj" fmla="val 47619"/>
            </a:avLst>
          </a:prstGeom>
          <a:solidFill>
            <a:srgbClr val="7E22CE"/>
          </a:solidFill>
          <a:ln/>
        </p:spPr>
      </p:sp>
      <p:sp>
        <p:nvSpPr>
          <p:cNvPr id="24" name="Text 22"/>
          <p:cNvSpPr/>
          <p:nvPr/>
        </p:nvSpPr>
        <p:spPr>
          <a:xfrm>
            <a:off x="8402117" y="1755648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ชั้นที่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02117" y="2231136"/>
            <a:ext cx="29666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 “ค้นเพิ่มใน Google”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402117" y="2688336"/>
            <a:ext cx="296661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ค้นจากฐานข้อมูล Google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402117" y="3438144"/>
            <a:ext cx="2966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22C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ใช้เมื่อชั้น 2 ยังไม่เจอ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4224528"/>
            <a:ext cx="11057839" cy="914400"/>
          </a:xfrm>
          <a:prstGeom prst="roundRect">
            <a:avLst>
              <a:gd name="adj" fmla="val 12000"/>
            </a:avLst>
          </a:prstGeom>
          <a:solidFill>
            <a:srgbClr val="FEF2F2"/>
          </a:solidFill>
          <a:ln w="16510">
            <a:solidFill>
              <a:srgbClr val="FCA5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" y="43525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ยังไม่เจออีก?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59536" y="4645152"/>
            <a:ext cx="104726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 “➕ เพิ่ม … เป็นสถานที่ใหม่” แล้วแตะบนแผนที่เพื่อปักหมุดเอง — วิธีนี้ใช้ได้เสมอ และอีก 2 หน้าถัดไปจะสอนทีละขั้น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6928" y="535838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เคล็ดลับ:  พิมพ์คำสั้น ๆ ได้ผลดีกว่า — พิมพ์ “โรงเรียน” ดีกว่าพิมพ์ “โรงเรียนบ้านไผ่ศึกษา อำเภอบ้านไผ่ ขอนแก่น”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5807" y="219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ขั้นที่ 25–26  จาก 39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หาสถานที่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ชั้นที่ 1 — พิมพ์แล้วรอ (ค้นในเครื่อง)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เจอตรงนี้ = จบ ไม่ต้องทำชั้นอื่น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Home Interview (ครัวเรือน) · บ้านไผ่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CFDF5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private/tmp/claude-501/-Users-cmmcbook-Desktop-Claude/6b1a54c5-a76b-4b4e-bd2c-fa1a67fbbca8/scratchpad/ppt/shotsH/17-map-lo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09344"/>
            <a:ext cx="2002796" cy="43342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02872" y="2163964"/>
            <a:ext cx="1879547" cy="1991482"/>
          </a:xfrm>
          <a:prstGeom prst="roundRect">
            <a:avLst>
              <a:gd name="adj" fmla="val 5838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4588" y="2017660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24588" y="201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25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28092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แตะชื่อที่ใช่จากรายการ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3228092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322809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25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93852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แตะรายการที่ชื่อตรงที่สุดและอยู่ใกล้ที่สุด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264668" y="3236976"/>
            <a:ext cx="23863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ป้าย local สีเขียว = มีชื่อนี้อยู่ในเครื่องแล้ว เชื่อถือได้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ตัวเลขคือระยะห่างโดยประมาณ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72784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CFDF5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69380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1" descr="/private/tmp/claude-501/-Users-cmmcbook-Desktop-Claude/6b1a54c5-a76b-4b4e-bd2c-fa1a67fbbca8/scratchpad/ppt/shotsH/18-map-pick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609344"/>
            <a:ext cx="2002796" cy="4334256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8034276" y="5676561"/>
            <a:ext cx="453999" cy="236227"/>
          </a:xfrm>
          <a:prstGeom prst="roundRect">
            <a:avLst>
              <a:gd name="adj" fmla="val 46450"/>
            </a:avLst>
          </a:prstGeom>
          <a:solidFill>
            <a:srgbClr val="FFFFFF">
              <a:alpha val="0"/>
            </a:srgbClr>
          </a:solidFill>
          <a:ln w="28575">
            <a:solidFill>
              <a:srgbClr val="059669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330444" y="5530257"/>
            <a:ext cx="292608" cy="292608"/>
          </a:xfrm>
          <a:prstGeom prst="ellipse">
            <a:avLst/>
          </a:prstGeom>
          <a:solidFill>
            <a:srgbClr val="059669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330444" y="553025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26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8933948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เลือกแล้ว → แตะ “ยืนยัน”</a:t>
            </a:r>
            <a:endParaRPr lang="en-US" sz="1550" dirty="0"/>
          </a:p>
        </p:txBody>
      </p:sp>
      <p:sp>
        <p:nvSpPr>
          <p:cNvPr id="27" name="Shape 23"/>
          <p:cNvSpPr/>
          <p:nvPr/>
        </p:nvSpPr>
        <p:spPr>
          <a:xfrm>
            <a:off x="8933948" y="2350008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8" name="Text 24"/>
          <p:cNvSpPr/>
          <p:nvPr/>
        </p:nvSpPr>
        <p:spPr>
          <a:xfrm>
            <a:off x="8933948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26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9299708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แตะปุ่มเขียว “✓ ยืนยัน” มุมล่างขวา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8970524" y="3236976"/>
            <a:ext cx="23863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ชื่อสถานที่และพิกัดจะถูกเติมกลับเข้าฟอร์มให้เอง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5807" y="219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ขั้นที่ 27–30  จาก 39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หาสถานที่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ค้นครบทุกชั้นแล้วยังไม่เจอ → ปักหมุดเอง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เช่น บ้านญาติในซอย ไร่นา หรือสวนที่ไม่มีชื่อ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Home Interview (ครัวเรือน) · บ้านไผ่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private/tmp/claude-501/-Users-cmmcbook-Desktop-Claude/6b1a54c5-a76b-4b4e-bd2c-fa1a67fbbca8/scratchpad/ppt/shotsH/19-map-notf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09344"/>
            <a:ext cx="2002796" cy="43342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02872" y="2163964"/>
            <a:ext cx="1879547" cy="486817"/>
          </a:xfrm>
          <a:prstGeom prst="roundRect">
            <a:avLst>
              <a:gd name="adj" fmla="val 22540"/>
            </a:avLst>
          </a:prstGeom>
          <a:solidFill>
            <a:srgbClr val="FFFFFF">
              <a:alpha val="0"/>
            </a:srgbClr>
          </a:solidFill>
          <a:ln w="28575">
            <a:solidFill>
              <a:srgbClr val="6B728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4588" y="2017660"/>
            <a:ext cx="292608" cy="292608"/>
          </a:xfrm>
          <a:prstGeom prst="ellipse">
            <a:avLst/>
          </a:prstGeom>
          <a:solidFill>
            <a:srgbClr val="6B7280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24588" y="201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27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13143" y="2394013"/>
            <a:ext cx="1506350" cy="215686"/>
          </a:xfrm>
          <a:prstGeom prst="roundRect">
            <a:avLst>
              <a:gd name="adj" fmla="val 50874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273189" y="2247709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73189" y="224770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28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28092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ขึ้นว่า “ไม่พบ …” แปลว่าค้นครบแล้ว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3228092" y="2350008"/>
            <a:ext cx="274320" cy="2743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7"/>
          <p:cNvSpPr/>
          <p:nvPr/>
        </p:nvSpPr>
        <p:spPr>
          <a:xfrm>
            <a:off x="322809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27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593852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อ่านข้อความ “ไม่พบ …” เพื่อยืนยันว่าค้นครบแล้วจริง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228092" y="3209544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3228092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28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593852" y="3182112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แตะปุ่ม “➕ เพิ่ม … เป็นสถานที่ใหม่”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3264668" y="4096512"/>
            <a:ext cx="23863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ปุ่มนี้จะใช้ชื่อที่เราพิมพ์ไว้เป็นชื่อสถานที่ใหม่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3228092" y="5248656"/>
            <a:ext cx="24229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74396" y="5248656"/>
            <a:ext cx="21302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0A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พิมพ์ชื่อให้คนอื่นอ่านรู้เรื่องก่อนแตะ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272784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69380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30" name="Image 1" descr="/private/tmp/claude-501/-Users-cmmcbook-Desktop-Claude/6b1a54c5-a76b-4b4e-bd2c-fa1a67fbbca8/scratchpad/ppt/shotsH/21-map-pinn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609344"/>
            <a:ext cx="2002796" cy="4334256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6608728" y="5720693"/>
            <a:ext cx="1017366" cy="147883"/>
          </a:xfrm>
          <a:prstGeom prst="roundRect">
            <a:avLst>
              <a:gd name="adj" fmla="val 74199"/>
            </a:avLst>
          </a:prstGeom>
          <a:solidFill>
            <a:srgbClr val="FFFFFF">
              <a:alpha val="0"/>
            </a:srgbClr>
          </a:solidFill>
          <a:ln w="28575">
            <a:solidFill>
              <a:srgbClr val="1D4ED8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479790" y="5574389"/>
            <a:ext cx="292608" cy="292608"/>
          </a:xfrm>
          <a:prstGeom prst="ellipse">
            <a:avLst/>
          </a:prstGeom>
          <a:solidFill>
            <a:srgbClr val="1D4ED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479790" y="557438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29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8034276" y="5676561"/>
            <a:ext cx="453999" cy="236227"/>
          </a:xfrm>
          <a:prstGeom prst="roundRect">
            <a:avLst>
              <a:gd name="adj" fmla="val 46450"/>
            </a:avLst>
          </a:prstGeom>
          <a:solidFill>
            <a:srgbClr val="FFFFFF">
              <a:alpha val="0"/>
            </a:srgbClr>
          </a:solidFill>
          <a:ln w="28575">
            <a:solidFill>
              <a:srgbClr val="059669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8330444" y="5530257"/>
            <a:ext cx="292608" cy="292608"/>
          </a:xfrm>
          <a:prstGeom prst="ellipse">
            <a:avLst/>
          </a:prstGeom>
          <a:solidFill>
            <a:srgbClr val="059669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330444" y="553025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30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8933948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แตะบนแผนที่ → หมุดปรากฏ → ยืนยัน</a:t>
            </a:r>
            <a:endParaRPr lang="en-US" sz="1550" dirty="0"/>
          </a:p>
        </p:txBody>
      </p:sp>
      <p:sp>
        <p:nvSpPr>
          <p:cNvPr id="38" name="Shape 34"/>
          <p:cNvSpPr/>
          <p:nvPr/>
        </p:nvSpPr>
        <p:spPr>
          <a:xfrm>
            <a:off x="8933948" y="2350008"/>
            <a:ext cx="274320" cy="2743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9" name="Text 35"/>
          <p:cNvSpPr/>
          <p:nvPr/>
        </p:nvSpPr>
        <p:spPr>
          <a:xfrm>
            <a:off x="8933948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29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9299708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ตัวเลขพิกัดขึ้นด้านล่างซ้าย = ปักสำเร็จ</a:t>
            </a:r>
            <a:endParaRPr lang="en-US" sz="1250" dirty="0"/>
          </a:p>
        </p:txBody>
      </p:sp>
      <p:sp>
        <p:nvSpPr>
          <p:cNvPr id="41" name="Shape 37"/>
          <p:cNvSpPr/>
          <p:nvPr/>
        </p:nvSpPr>
        <p:spPr>
          <a:xfrm>
            <a:off x="8933948" y="3209544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2" name="Text 38"/>
          <p:cNvSpPr/>
          <p:nvPr/>
        </p:nvSpPr>
        <p:spPr>
          <a:xfrm>
            <a:off x="8933948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30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9299708" y="3182112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แตะปุ่มเขียว “✓ ยืนยัน”</a:t>
            </a:r>
            <a:endParaRPr lang="en-US" sz="1250" dirty="0"/>
          </a:p>
        </p:txBody>
      </p:sp>
      <p:sp>
        <p:nvSpPr>
          <p:cNvPr id="44" name="Text 40"/>
          <p:cNvSpPr/>
          <p:nvPr/>
        </p:nvSpPr>
        <p:spPr>
          <a:xfrm>
            <a:off x="8970524" y="4096512"/>
            <a:ext cx="23863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ใช้สองนิ้วซูมเข้า–ออก ลากแผนที่ไปบริเวณที่ต้องการ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ถามเจ้าของบ้านว่าอยู่ใกล้อะไร แล้วซูมไปตรงนั้น</a:t>
            </a:r>
            <a:endParaRPr lang="en-US" sz="1150" dirty="0"/>
          </a:p>
        </p:txBody>
      </p:sp>
      <p:sp>
        <p:nvSpPr>
          <p:cNvPr id="45" name="Shape 41"/>
          <p:cNvSpPr/>
          <p:nvPr/>
        </p:nvSpPr>
        <p:spPr>
          <a:xfrm>
            <a:off x="8933948" y="5248656"/>
            <a:ext cx="24229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9080252" y="5248656"/>
            <a:ext cx="21302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0A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หมุดไม่ต้องเป๊ะ ขอให้อยู่ในบริเวณที่ถูกต้อง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5807" y="219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ขั้นที่ 31–32  จาก 39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ส่วนที่ 3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วัตถุประสงค์ และช่วงการเดินทาง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หนึ่งเที่ยว อาจใช้รถหลายต่อได้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Home Interview (ครัวเรือน) · บ้านไผ่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private/tmp/claude-501/-Users-cmmcbook-Desktop-Claude/6b1a54c5-a76b-4b4e-bd2c-fa1a67fbbca8/scratchpad/ppt/shotsH/22-trip-purp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09344"/>
            <a:ext cx="2002796" cy="43342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02872" y="3653063"/>
            <a:ext cx="1879547" cy="251633"/>
          </a:xfrm>
          <a:prstGeom prst="roundRect">
            <a:avLst>
              <a:gd name="adj" fmla="val 43606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4588" y="3506759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24588" y="350675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28092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ไปทำอะไรที่ปลายทางนั้น?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3228092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322809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31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93852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เลือกวัตถุประสงค์ให้ตรงกับปลายทาง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264668" y="3236976"/>
            <a:ext cx="23863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เช่น ไปโรงเรียน → “ไปเรียนหนังสือ”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ขากลับบ้าน ต้องเลือก “กลับบ้าน” เสมอ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72784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69380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1" descr="/private/tmp/claude-501/-Users-cmmcbook-Desktop-Claude/6b1a54c5-a76b-4b4e-bd2c-fa1a67fbbca8/scratchpad/ppt/shotsH/23-trip-seg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609344"/>
            <a:ext cx="2002796" cy="4334256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608728" y="3170177"/>
            <a:ext cx="1879547" cy="1215960"/>
          </a:xfrm>
          <a:prstGeom prst="roundRect">
            <a:avLst>
              <a:gd name="adj" fmla="val 9024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330444" y="3023873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330444" y="302387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32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8933948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ช่วงการเดินทาง — ต่อรถกี่ต่อ</a:t>
            </a:r>
            <a:endParaRPr lang="en-US" sz="1550" dirty="0"/>
          </a:p>
        </p:txBody>
      </p:sp>
      <p:sp>
        <p:nvSpPr>
          <p:cNvPr id="27" name="Shape 23"/>
          <p:cNvSpPr/>
          <p:nvPr/>
        </p:nvSpPr>
        <p:spPr>
          <a:xfrm>
            <a:off x="8933948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8933948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32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9299708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เลือกวิธีเดินทาง และใส่เวลาที่ใช้ (นาที)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8970524" y="3236976"/>
            <a:ext cx="23863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เดินออกจากบ้าน → ต่อสองแถว → เดินต่อ = 3 ช่วง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 “+ เพิ่มช่วงการเดินทาง” ถ้ามีมากกว่าหนึ่งต่อ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ถ้าเสียค่าโดยสาร ใส่ด้วย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5807" y="219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ขั้นที่ 33–36  จาก 39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ส่วนที่ 3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เวลาถึงคำนวณให้เอง แล้วบันทึก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ระบบบวกเวลาแต่ละช่วงให้อัตโนมัติ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Home Interview (ครัวเรือน) · บ้านไผ่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private/tmp/claude-501/-Users-cmmcbook-Desktop-Claude/6b1a54c5-a76b-4b4e-bd2c-fa1a67fbbca8/scratchpad/ppt/shotsH/24-trip-arr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09344"/>
            <a:ext cx="2002796" cy="43342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02872" y="5300154"/>
            <a:ext cx="1879547" cy="277310"/>
          </a:xfrm>
          <a:prstGeom prst="roundRect">
            <a:avLst>
              <a:gd name="adj" fmla="val 39569"/>
            </a:avLst>
          </a:prstGeom>
          <a:solidFill>
            <a:srgbClr val="FFFFFF">
              <a:alpha val="0"/>
            </a:srgbClr>
          </a:solidFill>
          <a:ln w="28575">
            <a:solidFill>
              <a:srgbClr val="1D4E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4588" y="5153850"/>
            <a:ext cx="292608" cy="292608"/>
          </a:xfrm>
          <a:prstGeom prst="ellipse">
            <a:avLst/>
          </a:prstGeom>
          <a:solidFill>
            <a:srgbClr val="1D4ED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24588" y="515385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847781" y="5664765"/>
            <a:ext cx="934638" cy="246498"/>
          </a:xfrm>
          <a:prstGeom prst="roundRect">
            <a:avLst>
              <a:gd name="adj" fmla="val 44515"/>
            </a:avLst>
          </a:prstGeom>
          <a:solidFill>
            <a:srgbClr val="FFFFFF">
              <a:alpha val="0"/>
            </a:srgbClr>
          </a:solidFill>
          <a:ln w="28575">
            <a:solidFill>
              <a:srgbClr val="05966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24588" y="5518461"/>
            <a:ext cx="292608" cy="292608"/>
          </a:xfrm>
          <a:prstGeom prst="ellipse">
            <a:avLst/>
          </a:prstGeom>
          <a:solidFill>
            <a:srgbClr val="059669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24588" y="551846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28092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ตรวจเวลาถึง แล้วบันทึก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3228092" y="2350008"/>
            <a:ext cx="274320" cy="2743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0" name="Text 17"/>
          <p:cNvSpPr/>
          <p:nvPr/>
        </p:nvSpPr>
        <p:spPr>
          <a:xfrm>
            <a:off x="322809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33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593852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เวลาถึงปลายทางคำนวณให้เอง — ดูว่าสมเหตุสมผลไหม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228092" y="3209544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3" name="Text 20"/>
          <p:cNvSpPr/>
          <p:nvPr/>
        </p:nvSpPr>
        <p:spPr>
          <a:xfrm>
            <a:off x="3228092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34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593852" y="3182112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 “เพิ่มการเดินทาง” เพื่อบันทึก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3264668" y="4096512"/>
            <a:ext cx="238632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ถ้าเวลาถึงเพี้ยน แปลว่าใส่เวลาที่ใช้ในช่วงใดช่วงหนึ่งผิด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272784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CFDF5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9380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28" name="Image 1" descr="/private/tmp/claude-501/-Users-cmmcbook-Desktop-Claude/6b1a54c5-a76b-4b4e-bd2c-fa1a67fbbca8/scratchpad/ppt/shotsH/25-trip-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609344"/>
            <a:ext cx="2002796" cy="4334256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6598458" y="3722872"/>
            <a:ext cx="1900089" cy="941539"/>
          </a:xfrm>
          <a:prstGeom prst="roundRect">
            <a:avLst>
              <a:gd name="adj" fmla="val 11654"/>
            </a:avLst>
          </a:prstGeom>
          <a:solidFill>
            <a:srgbClr val="FFFFFF">
              <a:alpha val="0"/>
            </a:srgbClr>
          </a:solidFill>
          <a:ln w="28575">
            <a:solidFill>
              <a:srgbClr val="059669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330444" y="3576568"/>
            <a:ext cx="292608" cy="292608"/>
          </a:xfrm>
          <a:prstGeom prst="ellipse">
            <a:avLst/>
          </a:prstGeom>
          <a:solidFill>
            <a:srgbClr val="059669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330444" y="3576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35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6598458" y="4695223"/>
            <a:ext cx="1350523" cy="246498"/>
          </a:xfrm>
          <a:prstGeom prst="roundRect">
            <a:avLst>
              <a:gd name="adj" fmla="val 44515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802677" y="4548919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802677" y="454891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36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8933948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เที่ยวถูกบันทึกแล้ว — ทำเที่ยวถัดไป</a:t>
            </a:r>
            <a:endParaRPr lang="en-US" sz="1550" dirty="0"/>
          </a:p>
        </p:txBody>
      </p:sp>
      <p:sp>
        <p:nvSpPr>
          <p:cNvPr id="36" name="Shape 32"/>
          <p:cNvSpPr/>
          <p:nvPr/>
        </p:nvSpPr>
        <p:spPr>
          <a:xfrm>
            <a:off x="8933948" y="2350008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7" name="Text 33"/>
          <p:cNvSpPr/>
          <p:nvPr/>
        </p:nvSpPr>
        <p:spPr>
          <a:xfrm>
            <a:off x="8933948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35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9299708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เที่ยวที่บันทึกจะมาอยู่ในรายการ แก้ไขได้ตลอด</a:t>
            </a:r>
            <a:endParaRPr lang="en-US" sz="1250" dirty="0"/>
          </a:p>
        </p:txBody>
      </p:sp>
      <p:sp>
        <p:nvSpPr>
          <p:cNvPr id="39" name="Shape 35"/>
          <p:cNvSpPr/>
          <p:nvPr/>
        </p:nvSpPr>
        <p:spPr>
          <a:xfrm>
            <a:off x="8933948" y="3209544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6"/>
          <p:cNvSpPr/>
          <p:nvPr/>
        </p:nvSpPr>
        <p:spPr>
          <a:xfrm>
            <a:off x="8933948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36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9299708" y="3182112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 “+ เพิ่มการเดินทางอีก” สำหรับเที่ยวถัดไป</a:t>
            </a:r>
            <a:endParaRPr lang="en-US" sz="1250" dirty="0"/>
          </a:p>
        </p:txBody>
      </p:sp>
      <p:sp>
        <p:nvSpPr>
          <p:cNvPr id="42" name="Shape 38"/>
          <p:cNvSpPr/>
          <p:nvPr/>
        </p:nvSpPr>
        <p:spPr>
          <a:xfrm>
            <a:off x="8933948" y="5248656"/>
            <a:ext cx="24229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9080252" y="5248656"/>
            <a:ext cx="21302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0A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อ่านบรรทัดสีแดง: ต้องมีอย่างน้อย 2 ครั้ง และครั้งสุดท้ายต้องเป็น “กลับบ้าน”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5807" y="219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ขั้นที่ 37  จาก 39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ตรวจสถานะ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อ่านสถานะให้เป็น — แบบไหนผ่าน แบบไหนต้องแก้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ดูก่อนออกจากบ้านแต่ละหลัง จะได้ไม่ต้องกลับไปใหม่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Home Interview (ครัวเรือน) · บ้านไผ่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FEF2F2"/>
          </a:solidFill>
          <a:ln w="15240">
            <a:solidFill>
              <a:srgbClr val="FCA5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private/tmp/claude-501/-Users-cmmcbook-Desktop-Claude/6b1a54c5-a76b-4b4e-bd2c-fa1a67fbbca8/scratchpad/ppt/shotsH/26-hh-stat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09344"/>
            <a:ext cx="2002796" cy="43342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92602" y="3358661"/>
            <a:ext cx="1900089" cy="840035"/>
          </a:xfrm>
          <a:prstGeom prst="roundRect">
            <a:avLst>
              <a:gd name="adj" fmla="val 13062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4588" y="3212357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24588" y="321235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37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28092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DC262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หน้าบ้านจะบอกว่าใครยังขาดอะไร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3228092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322809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37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93852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แถบเตือนจะไล่บอกเป็นรายคน และรายเที่ยว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264668" y="3236976"/>
            <a:ext cx="23863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อ่านได้เลยว่า “คนที่ 1 · เที่ยวที่ 1 — ขาดอะไร”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แก้เสร็จแถบนี้จะหายไปเอง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228092" y="5248656"/>
            <a:ext cx="24229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74396" y="5248656"/>
            <a:ext cx="21302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ยังอยู่ที่บ้านหลังนั้น แก้ได้ทันที — ถ้ากลับมาแล้วจะถามใครไม่ได้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72784" y="1298448"/>
            <a:ext cx="2560320" cy="2834640"/>
          </a:xfrm>
          <a:prstGeom prst="roundRect">
            <a:avLst>
              <a:gd name="adj" fmla="val 3571"/>
            </a:avLst>
          </a:prstGeom>
          <a:solidFill>
            <a:srgbClr val="FEF2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10528" y="1554480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1"/>
          <p:cNvSpPr/>
          <p:nvPr/>
        </p:nvSpPr>
        <p:spPr>
          <a:xfrm>
            <a:off x="6803136" y="14630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ต้องแก้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510528" y="18288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ขาดของสำคัญ — ข้อมูลใช้ไม่ได้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510528" y="2231136"/>
            <a:ext cx="20848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บ้านไม่มีพิกัด GPS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บ้านยังไม่มีสมาชิกเลย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ไม่มีใครในบ้านเดินทางเลย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เที่ยวไหนไม่มีปลายทาง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9070848" y="1298448"/>
            <a:ext cx="2560320" cy="2834640"/>
          </a:xfrm>
          <a:prstGeom prst="roundRect">
            <a:avLst>
              <a:gd name="adj" fmla="val 3571"/>
            </a:avLst>
          </a:prstGeom>
          <a:solidFill>
            <a:srgbClr val="FFF7ED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308592" y="1554480"/>
            <a:ext cx="201168" cy="20116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9601200" y="14630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ควรแก้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9308592" y="18288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ยังใช้ได้ แต่ควรเติมให้ครบ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9308592" y="2231136"/>
            <a:ext cx="20848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ไม่ได้ใส่บ้านเลขที่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ไม่ได้ใส่รายได้ครัวเรือน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ไม่ระบุประเภทที่อยู่อาศัย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ไม่ระบุลักษณะสถานที่ปลายทาง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272784" y="4297680"/>
            <a:ext cx="5358384" cy="1956816"/>
          </a:xfrm>
          <a:prstGeom prst="roundRect">
            <a:avLst>
              <a:gd name="adj" fmla="val 4673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65392" y="4462272"/>
            <a:ext cx="4773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บนหน้ารายการครัวเรือน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601968" y="4956048"/>
            <a:ext cx="164592" cy="16459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5" name="Text 32"/>
          <p:cNvSpPr/>
          <p:nvPr/>
        </p:nvSpPr>
        <p:spPr>
          <a:xfrm>
            <a:off x="6876288" y="48646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ครบ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8503920" y="48646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บ้านหลังนี้ผ่านแล้ว ไม่ต้องทำอะไรอีก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601968" y="539496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8" name="Text 35"/>
          <p:cNvSpPr/>
          <p:nvPr/>
        </p:nvSpPr>
        <p:spPr>
          <a:xfrm>
            <a:off x="6876288" y="53035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ควรแก้ n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8503920" y="53035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ยังขาดของรอง — ควรกลับไปเติม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6601968" y="5833872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1" name="Text 38"/>
          <p:cNvSpPr/>
          <p:nvPr/>
        </p:nvSpPr>
        <p:spPr>
          <a:xfrm>
            <a:off x="6876288" y="57424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ต้องแก้ n</a:t>
            </a:r>
            <a:endParaRPr lang="en-US" sz="1250" dirty="0"/>
          </a:p>
        </p:txBody>
      </p:sp>
      <p:sp>
        <p:nvSpPr>
          <p:cNvPr id="42" name="Text 39"/>
          <p:cNvSpPr/>
          <p:nvPr/>
        </p:nvSpPr>
        <p:spPr>
          <a:xfrm>
            <a:off x="8503920" y="57424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ขาดของสำคัญ — ต้องกลับไปแก้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5807" y="219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ขั้นที่ 38–39  จาก 39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ตรวจสถานะ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ตรวจงานทั้งวันจากหน้ารายการ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ทำก่อนเลิกงานทุกวัน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Home Interview (ครัวเรือน) · บ้านไผ่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private/tmp/claude-501/-Users-cmmcbook-Desktop-Claude/6b1a54c5-a76b-4b4e-bd2c-fa1a67fbbca8/scratchpad/ppt/shotsH/27-home-stat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09344"/>
            <a:ext cx="2002796" cy="43342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92602" y="3813302"/>
            <a:ext cx="1361115" cy="241363"/>
          </a:xfrm>
          <a:prstGeom prst="roundRect">
            <a:avLst>
              <a:gd name="adj" fmla="val 45462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07413" y="3666998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07413" y="366699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38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92602" y="4311434"/>
            <a:ext cx="1900089" cy="786595"/>
          </a:xfrm>
          <a:prstGeom prst="roundRect">
            <a:avLst>
              <a:gd name="adj" fmla="val 13950"/>
            </a:avLst>
          </a:prstGeom>
          <a:solidFill>
            <a:srgbClr val="FFFFFF">
              <a:alpha val="0"/>
            </a:srgbClr>
          </a:solidFill>
          <a:ln w="28575">
            <a:solidFill>
              <a:srgbClr val="05966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24588" y="4165130"/>
            <a:ext cx="292608" cy="292608"/>
          </a:xfrm>
          <a:prstGeom prst="ellipse">
            <a:avLst/>
          </a:prstGeom>
          <a:solidFill>
            <a:srgbClr val="059669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24588" y="416513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39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28092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กรองดูเฉพาะบ้านที่ยังไม่เสร็จ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3228092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7"/>
          <p:cNvSpPr/>
          <p:nvPr/>
        </p:nvSpPr>
        <p:spPr>
          <a:xfrm>
            <a:off x="322809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38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593852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 “⚠️ ไม่สมบูรณ์” เพื่อกรองเฉพาะบ้านที่ยังขาด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228092" y="3209544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3" name="Text 20"/>
          <p:cNvSpPr/>
          <p:nvPr/>
        </p:nvSpPr>
        <p:spPr>
          <a:xfrm>
            <a:off x="3228092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39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593852" y="3182112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แต่ละการ์ดบอกสถานะของบ้านหลังนั้น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3228092" y="5248656"/>
            <a:ext cx="24229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374396" y="5248656"/>
            <a:ext cx="21302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0A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เป้าหมาย: กรองแล้วต้องไม่เหลือบ้านสักหลัง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272784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83680" y="1554480"/>
            <a:ext cx="4736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ที่เจอบ่อยที่สุด และวิธีแก้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6583680" y="2084832"/>
            <a:ext cx="473659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766560" y="215798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บ้านไม่มีพิกัด GPS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766560" y="248716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→  เปิดบ้านหลังนั้น แตะ “แก้ไข” แล้วกด 📍 GPS ใหม่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583680" y="3072384"/>
            <a:ext cx="473659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766560" y="314553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ไม่มีใครในบ้านเดินทางเลย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766560" y="34747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→  ถามใหม่ว่าวันศุกร์ที่แล้วใครออกจากบ้านบ้าง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583680" y="4059936"/>
            <a:ext cx="473659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766560" y="413308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เที่ยวไม่มีปลายทาง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766560" y="446227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→  เปิดเที่ยวนั้น แตะ 🗺 แผนที่ แล้วค้นหา/ปักหมุด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583680" y="5047488"/>
            <a:ext cx="473659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766560" y="51206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สมาชิกไม่ครบตามตาราง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766560" y="544982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→  แก้ตารางจำนวนสมาชิกในส่วนที่ 1 ก่อน แล้วค่อยเพิ่มคน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583680" y="5852160"/>
            <a:ext cx="4736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แก้เสร็จแล้วป้ายบนการ์ดจะเปลี่ยนเป็น ✅ ครบ เอง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840480"/>
            <a:ext cx="5303520" cy="5303520"/>
          </a:xfrm>
          <a:prstGeom prst="ellipse">
            <a:avLst/>
          </a:prstGeom>
          <a:solidFill>
            <a:srgbClr val="1B366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78638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ก่อนออกจากบ้านแต่ละหลัง — เช็ค 5 ข้อ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408176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D7F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เช็คตอนยังอยู่หน้าบ้าน ถ้ากลับมาแล้วจะถามใครไม่ได้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011680"/>
            <a:ext cx="10881360" cy="603504"/>
          </a:xfrm>
          <a:prstGeom prst="roundRect">
            <a:avLst>
              <a:gd name="adj" fmla="val 18182"/>
            </a:avLst>
          </a:prstGeom>
          <a:solidFill>
            <a:srgbClr val="1B3660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13055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3233F"/>
          </a:solidFill>
          <a:ln w="20320">
            <a:solidFill>
              <a:srgbClr val="6E9B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2011680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กด GPS ที่หน้าบ้านแล้ว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10528" y="2011680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D7F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ดูว่ามีตัวเลขพิกัดขึ้นในช่องจริง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2743200"/>
            <a:ext cx="10881360" cy="603504"/>
          </a:xfrm>
          <a:prstGeom prst="roundRect">
            <a:avLst>
              <a:gd name="adj" fmla="val 18182"/>
            </a:avLst>
          </a:prstGeom>
          <a:solidFill>
            <a:srgbClr val="1B3660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28620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3233F"/>
          </a:solidFill>
          <a:ln w="20320">
            <a:solidFill>
              <a:srgbClr val="6E9B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2743200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สมาชิกครบตามตารางส่วนที่ 1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10528" y="2743200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D7F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จำนวนคนที่เพิ่ม = จำนวนในตาราง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3474720"/>
            <a:ext cx="10881360" cy="603504"/>
          </a:xfrm>
          <a:prstGeom prst="roundRect">
            <a:avLst>
              <a:gd name="adj" fmla="val 18182"/>
            </a:avLst>
          </a:prstGeom>
          <a:solidFill>
            <a:srgbClr val="1B3660"/>
          </a:solidFill>
          <a:ln/>
        </p:spPr>
      </p:sp>
      <p:sp>
        <p:nvSpPr>
          <p:cNvPr id="14" name="Shape 12"/>
          <p:cNvSpPr/>
          <p:nvPr/>
        </p:nvSpPr>
        <p:spPr>
          <a:xfrm>
            <a:off x="896112" y="359359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3233F"/>
          </a:solidFill>
          <a:ln w="20320">
            <a:solidFill>
              <a:srgbClr val="6E9B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3474720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ทุกคนที่ออกจากบ้านมีเที่ยวครบ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510528" y="3474720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D7F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อย่างน้อย 2 เที่ยว และเที่ยวสุดท้ายคือกลับบ้าน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" y="4206240"/>
            <a:ext cx="10881360" cy="603504"/>
          </a:xfrm>
          <a:prstGeom prst="roundRect">
            <a:avLst>
              <a:gd name="adj" fmla="val 18182"/>
            </a:avLst>
          </a:prstGeom>
          <a:solidFill>
            <a:srgbClr val="1B3660"/>
          </a:solidFill>
          <a:ln/>
        </p:spPr>
      </p:sp>
      <p:sp>
        <p:nvSpPr>
          <p:cNvPr id="18" name="Shape 16"/>
          <p:cNvSpPr/>
          <p:nvPr/>
        </p:nvSpPr>
        <p:spPr>
          <a:xfrm>
            <a:off x="896112" y="43251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3233F"/>
          </a:solidFill>
          <a:ln w="20320">
            <a:solidFill>
              <a:srgbClr val="6E9B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63040" y="4206240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ทุกเที่ยวมีปลายทางและหมุด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510528" y="4206240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D7F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ไม่มีเที่ยวไหนที่ปลายทางว่าง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" y="4937760"/>
            <a:ext cx="10881360" cy="603504"/>
          </a:xfrm>
          <a:prstGeom prst="roundRect">
            <a:avLst>
              <a:gd name="adj" fmla="val 18182"/>
            </a:avLst>
          </a:prstGeom>
          <a:solidFill>
            <a:srgbClr val="1B3660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" y="5056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3233F"/>
          </a:solidFill>
          <a:ln w="20320">
            <a:solidFill>
              <a:srgbClr val="6E9B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63040" y="4937760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แถบเตือนบนหน้าบ้านหายแล้ว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10528" y="4937760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D7F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ถ้ายังมีสีแดงค้าง แปลว่ายังไม่เสร็จ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" y="5760720"/>
            <a:ext cx="10881360" cy="530352"/>
          </a:xfrm>
          <a:prstGeom prst="roundRect">
            <a:avLst>
              <a:gd name="adj" fmla="val 20690"/>
            </a:avLst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576072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ไม่แน่ใจตรงไหน ถามพี่เลี้ยงได้เสมอ — ถามดีกว่าเดา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68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Home Interview (ครัวเรือน) · บ้านไผ่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68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คู่มือใช้งานทีละขั้น — แบบสำรวจครัวเรือน</dc:title>
  <dc:subject>PptxGenJS Presentation</dc:subject>
  <dc:creator>PptxGenJS</dc:creator>
  <cp:lastModifiedBy>PptxGenJS</cp:lastModifiedBy>
  <cp:revision>1</cp:revision>
  <dcterms:created xsi:type="dcterms:W3CDTF">2026-08-13T10:03:03Z</dcterms:created>
  <dcterms:modified xsi:type="dcterms:W3CDTF">2026-08-13T10:03:03Z</dcterms:modified>
</cp:coreProperties>
</file>